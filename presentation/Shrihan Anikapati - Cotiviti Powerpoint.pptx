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p:scale>
          <a:sx n="106" d="100"/>
          <a:sy n="106" d="100"/>
        </p:scale>
        <p:origin x="677" y="-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1077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Hi, my name is Shrihan Anikapati, and I’m an Electrical and Computer Engineering Honors and Mathematics student at The University of Texas at Austin. I’m also pursuing a minor in Finance, and over time I’ve become especially interested in the intersection of AI, applied software engineering, and data-driven decision systems — especially when those technologies create measurable business value and improve real operational workflows.</a:t>
            </a:r>
            <a:endParaRPr lang="en-US" b="0" dirty="0">
              <a:effectLst/>
            </a:endParaRPr>
          </a:p>
          <a:p>
            <a:pPr rtl="0"/>
            <a:r>
              <a:rPr lang="en-US" sz="1200" b="0" i="0" u="none" strike="noStrike" kern="1200" dirty="0">
                <a:solidFill>
                  <a:schemeClr val="tx1"/>
                </a:solidFill>
                <a:effectLst/>
                <a:latin typeface="+mn-lt"/>
                <a:ea typeface="+mn-ea"/>
                <a:cs typeface="+mn-cs"/>
              </a:rPr>
              <a:t>For this project, the topic I chose was Clinical Natural Language Technology for Health Care, with a focus on NLP, OCR, computer vision, large language models, and large multimodal models. My written report explains the strategic opportunity, and my proof of concept demonstrates it in a working application.</a:t>
            </a:r>
            <a:endParaRPr lang="en-US" b="0" dirty="0">
              <a:effectLst/>
            </a:endParaRPr>
          </a:p>
          <a:p>
            <a:pPr rtl="0"/>
            <a:r>
              <a:rPr lang="en-US" sz="1200" b="0" i="0" u="none" strike="noStrike" kern="1200" dirty="0">
                <a:solidFill>
                  <a:schemeClr val="tx1"/>
                </a:solidFill>
                <a:effectLst/>
                <a:latin typeface="+mn-lt"/>
                <a:ea typeface="+mn-ea"/>
                <a:cs typeface="+mn-cs"/>
              </a:rPr>
              <a:t>The tool I built is called the Clinical Report AI Assistant. I designed the interface with a Cotiviti-inspired visual theme, using purple accents, clean dashboard cards, and consistent status messages so the prototype feels aligned with Cotiviti’s brand while still being simple and reviewer-friendly. The tool reviews unstructured clinical documentation, summarizes the note, extracts clinical entities, identifies documentation gaps, and allows a reviewer to ask targeted questions.</a:t>
            </a:r>
            <a:endParaRPr lang="en-US" b="0" dirty="0">
              <a:effectLst/>
            </a:endParaRPr>
          </a:p>
          <a:p>
            <a:pPr rtl="0"/>
            <a:r>
              <a:rPr lang="en-US" sz="1200" b="0" i="0" u="none" strike="noStrike" kern="1200" dirty="0">
                <a:solidFill>
                  <a:schemeClr val="tx1"/>
                </a:solidFill>
                <a:effectLst/>
                <a:latin typeface="+mn-lt"/>
                <a:ea typeface="+mn-ea"/>
                <a:cs typeface="+mn-cs"/>
              </a:rPr>
              <a:t>The main idea is simple: AI should not replace clinical, coding, or payment integrity judgment. It should prepare better information for expert reviewers, help them move faster, and support more consistent decisions.</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I structured the project around Cotiviti’s mission and business context.</a:t>
            </a:r>
            <a:endParaRPr lang="en-US" b="0" dirty="0">
              <a:effectLst/>
            </a:endParaRPr>
          </a:p>
          <a:p>
            <a:pPr rtl="0"/>
            <a:r>
              <a:rPr lang="en-US" sz="1200" b="0" i="0" u="none" strike="noStrike" kern="1200" dirty="0">
                <a:solidFill>
                  <a:schemeClr val="tx1"/>
                </a:solidFill>
                <a:effectLst/>
                <a:latin typeface="+mn-lt"/>
                <a:ea typeface="+mn-ea"/>
                <a:cs typeface="+mn-cs"/>
              </a:rPr>
              <a:t>Cotiviti enables healthcare organizations to improve performance through advanced technology, data analytics, payment accuracy, risk adjustment, and more.</a:t>
            </a:r>
            <a:endParaRPr lang="en-US" b="0" dirty="0">
              <a:effectLst/>
            </a:endParaRPr>
          </a:p>
          <a:p>
            <a:pPr rtl="0"/>
            <a:r>
              <a:rPr lang="en-US" sz="1200" b="0" i="0" u="none" strike="noStrike" kern="1200" dirty="0">
                <a:solidFill>
                  <a:schemeClr val="tx1"/>
                </a:solidFill>
                <a:effectLst/>
                <a:latin typeface="+mn-lt"/>
                <a:ea typeface="+mn-ea"/>
                <a:cs typeface="+mn-cs"/>
              </a:rPr>
              <a:t>That makes clinical documentation intelligence a strong fit, because documentation quality affects both patient care and financial accuracy.</a:t>
            </a:r>
            <a:endParaRPr lang="en-US" b="0" dirty="0">
              <a:effectLst/>
            </a:endParaRPr>
          </a:p>
          <a:p>
            <a:pPr rtl="0"/>
            <a:r>
              <a:rPr lang="en-US" sz="1200" b="0" i="0" u="none" strike="noStrike" kern="1200" dirty="0">
                <a:solidFill>
                  <a:schemeClr val="tx1"/>
                </a:solidFill>
                <a:effectLst/>
                <a:latin typeface="+mn-lt"/>
                <a:ea typeface="+mn-ea"/>
                <a:cs typeface="+mn-cs"/>
              </a:rPr>
              <a:t>A clinical note can influence a wide range of things like coding accuracy, risk adjustment, claims review, quality measurement, and operational decisions.</a:t>
            </a:r>
            <a:endParaRPr lang="en-US" b="0" dirty="0">
              <a:effectLst/>
            </a:endParaRPr>
          </a:p>
          <a:p>
            <a:pPr rtl="0"/>
            <a:r>
              <a:rPr lang="en-US" sz="1200" b="0" i="0" u="none" strike="noStrike" kern="1200" dirty="0">
                <a:solidFill>
                  <a:schemeClr val="tx1"/>
                </a:solidFill>
                <a:effectLst/>
                <a:latin typeface="+mn-lt"/>
                <a:ea typeface="+mn-ea"/>
                <a:cs typeface="+mn-cs"/>
              </a:rPr>
              <a:t>So my goal wasn’t to build a generic AI chatbot. My goal was to build a reviewer-centered AI assistant that reflects the type of workflow Cotiviti could actually use or expand on.</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My report begins by defining clinical natural language technology.</a:t>
            </a:r>
            <a:endParaRPr lang="en-US" b="0" dirty="0">
              <a:effectLst/>
            </a:endParaRPr>
          </a:p>
          <a:p>
            <a:pPr rtl="0"/>
            <a:r>
              <a:rPr lang="en-US" sz="1200" b="0" i="0" u="none" strike="noStrike" kern="1200" dirty="0">
                <a:solidFill>
                  <a:schemeClr val="tx1"/>
                </a:solidFill>
                <a:effectLst/>
                <a:latin typeface="+mn-lt"/>
                <a:ea typeface="+mn-ea"/>
                <a:cs typeface="+mn-cs"/>
              </a:rPr>
              <a:t>In healthcare, valuable information is often buried in physician notes, discharge summaries, scanned records, lab reports, radiology reports, and more.</a:t>
            </a:r>
            <a:endParaRPr lang="en-US" b="0" dirty="0">
              <a:effectLst/>
            </a:endParaRPr>
          </a:p>
          <a:p>
            <a:pPr rtl="0"/>
            <a:r>
              <a:rPr lang="en-US" sz="1200" b="0" i="0" u="none" strike="noStrike" kern="1200" dirty="0">
                <a:solidFill>
                  <a:schemeClr val="tx1"/>
                </a:solidFill>
                <a:effectLst/>
                <a:latin typeface="+mn-lt"/>
                <a:ea typeface="+mn-ea"/>
                <a:cs typeface="+mn-cs"/>
              </a:rPr>
              <a:t>Traditional systems relied on rules and keywords. Those systems were explainable, but definitely brittle. For example, they could find the word “pneumonia,” but could struggle to understand whether the note says the patient has pneumonia, denies pneumonia, or has a past history of pneumonia.</a:t>
            </a:r>
            <a:endParaRPr lang="en-US" b="0" dirty="0">
              <a:effectLst/>
            </a:endParaRPr>
          </a:p>
          <a:p>
            <a:pPr rtl="0"/>
            <a:r>
              <a:rPr lang="en-US" sz="1200" b="0" i="0" u="none" strike="noStrike" kern="1200" dirty="0">
                <a:solidFill>
                  <a:schemeClr val="tx1"/>
                </a:solidFill>
                <a:effectLst/>
                <a:latin typeface="+mn-lt"/>
                <a:ea typeface="+mn-ea"/>
                <a:cs typeface="+mn-cs"/>
              </a:rPr>
              <a:t>The field then moved toward machine learning and deep learning, which improved tasks like entity recognition, classification, and clinical concept extraction.</a:t>
            </a:r>
            <a:endParaRPr lang="en-US" b="0" dirty="0">
              <a:effectLst/>
            </a:endParaRPr>
          </a:p>
          <a:p>
            <a:pPr rtl="0"/>
            <a:r>
              <a:rPr lang="en-US" sz="1200" b="0" i="0" u="none" strike="noStrike" kern="1200" dirty="0">
                <a:solidFill>
                  <a:schemeClr val="tx1"/>
                </a:solidFill>
                <a:effectLst/>
                <a:latin typeface="+mn-lt"/>
                <a:ea typeface="+mn-ea"/>
                <a:cs typeface="+mn-cs"/>
              </a:rPr>
              <a:t>Today, large language models and multimodal systems can summarize long documents, answer questions, extract structured information, and potentially reason across text, images, and tabular data.</a:t>
            </a:r>
            <a:endParaRPr lang="en-US" b="0" dirty="0">
              <a:effectLst/>
            </a:endParaRPr>
          </a:p>
          <a:p>
            <a:pPr rtl="0"/>
            <a:r>
              <a:rPr lang="en-US" sz="1200" b="0" i="0" u="none" strike="noStrike" kern="1200" dirty="0">
                <a:solidFill>
                  <a:schemeClr val="tx1"/>
                </a:solidFill>
                <a:effectLst/>
                <a:latin typeface="+mn-lt"/>
                <a:ea typeface="+mn-ea"/>
                <a:cs typeface="+mn-cs"/>
              </a:rPr>
              <a:t>But in healthcare, fluent output is not enough. The output must be accurate, auditable, privacy-safe, and useful in a real workflow.</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key trend I identified is the movement from simple text processing to decision-supporting documentation intelligence.</a:t>
            </a:r>
            <a:endParaRPr lang="en-US" b="0" dirty="0">
              <a:effectLst/>
            </a:endParaRPr>
          </a:p>
          <a:p>
            <a:pPr rtl="0"/>
            <a:r>
              <a:rPr lang="en-US" sz="1200" b="0" i="0" u="none" strike="noStrike" kern="1200" dirty="0">
                <a:solidFill>
                  <a:schemeClr val="tx1"/>
                </a:solidFill>
                <a:effectLst/>
                <a:latin typeface="+mn-lt"/>
                <a:ea typeface="+mn-ea"/>
                <a:cs typeface="+mn-cs"/>
              </a:rPr>
              <a:t>That matters because healthcare data is fragmented. A reviewer may need to understand symptoms, diagnoses, medications, lab evidence, imaging results, provider assessments, and follow-up plans across a long record.</a:t>
            </a:r>
            <a:endParaRPr lang="en-US" b="0" dirty="0">
              <a:effectLst/>
            </a:endParaRPr>
          </a:p>
          <a:p>
            <a:pPr rtl="0"/>
            <a:r>
              <a:rPr lang="en-US" sz="1200" b="0" i="0" u="none" strike="noStrike" kern="1200" dirty="0">
                <a:solidFill>
                  <a:schemeClr val="tx1"/>
                </a:solidFill>
                <a:effectLst/>
                <a:latin typeface="+mn-lt"/>
                <a:ea typeface="+mn-ea"/>
                <a:cs typeface="+mn-cs"/>
              </a:rPr>
              <a:t>AI can reduce the manual search burden, but only if the tool is grounded in the source documentation and keeps the reviewer in control.</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For Cotiviti, I saw three to four major opportunities.</a:t>
            </a:r>
            <a:endParaRPr lang="en-US" b="0" dirty="0">
              <a:effectLst/>
            </a:endParaRPr>
          </a:p>
          <a:p>
            <a:pPr rtl="0"/>
            <a:r>
              <a:rPr lang="en-US" sz="1200" b="0" i="0" u="none" strike="noStrike" kern="1200" dirty="0">
                <a:solidFill>
                  <a:schemeClr val="tx1"/>
                </a:solidFill>
                <a:effectLst/>
                <a:latin typeface="+mn-lt"/>
                <a:ea typeface="+mn-ea"/>
                <a:cs typeface="+mn-cs"/>
              </a:rPr>
              <a:t>First is unstructured data value. If clinical notes and PDFs contain information that is not captured cleanly in structured fields, NLP can unlock that information for payment accuracy, quality measurement, and risk adjustment.</a:t>
            </a:r>
            <a:endParaRPr lang="en-US" b="0" dirty="0">
              <a:effectLst/>
            </a:endParaRPr>
          </a:p>
          <a:p>
            <a:pPr rtl="0"/>
            <a:r>
              <a:rPr lang="en-US" sz="1200" b="0" i="0" u="none" strike="noStrike" kern="1200" dirty="0">
                <a:solidFill>
                  <a:schemeClr val="tx1"/>
                </a:solidFill>
                <a:effectLst/>
                <a:latin typeface="+mn-lt"/>
                <a:ea typeface="+mn-ea"/>
                <a:cs typeface="+mn-cs"/>
              </a:rPr>
              <a:t>Second is documentation gap detection. AI can help flag missing specificity, unclear evidence, missing dosage details, or vague follow-up instructions before those issues create downstream friction.</a:t>
            </a:r>
            <a:endParaRPr lang="en-US" b="0" dirty="0">
              <a:effectLst/>
            </a:endParaRPr>
          </a:p>
          <a:p>
            <a:pPr rtl="0"/>
            <a:r>
              <a:rPr lang="en-US" sz="1200" b="0" i="0" u="none" strike="noStrike" kern="1200" dirty="0">
                <a:solidFill>
                  <a:schemeClr val="tx1"/>
                </a:solidFill>
                <a:effectLst/>
                <a:latin typeface="+mn-lt"/>
                <a:ea typeface="+mn-ea"/>
                <a:cs typeface="+mn-cs"/>
              </a:rPr>
              <a:t>Third is operational efficiency. A reviewer can start with a summary and prioritized questions instead of manually reading every line from scratch. The threats are just as important.</a:t>
            </a:r>
            <a:endParaRPr lang="en-US" b="0" dirty="0">
              <a:effectLst/>
            </a:endParaRPr>
          </a:p>
          <a:p>
            <a:pPr rtl="0"/>
            <a:r>
              <a:rPr lang="en-US" sz="1200" b="0" i="0" u="none" strike="noStrike" kern="1200" dirty="0">
                <a:solidFill>
                  <a:schemeClr val="tx1"/>
                </a:solidFill>
                <a:effectLst/>
                <a:latin typeface="+mn-lt"/>
                <a:ea typeface="+mn-ea"/>
                <a:cs typeface="+mn-cs"/>
              </a:rPr>
              <a:t>Large language models can hallucinate. They can sound confident while being unsupported by the record. They can miss clinical nuance, reflect bias, or create compliance risk if protected health information is handled incorrectly.</a:t>
            </a:r>
            <a:endParaRPr lang="en-US" b="0" dirty="0">
              <a:effectLst/>
            </a:endParaRPr>
          </a:p>
          <a:p>
            <a:br>
              <a:rPr lang="en-US" dirty="0"/>
            </a:b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That is why my recommendation is not autonomous decision-making.</a:t>
            </a:r>
            <a:endParaRPr lang="en-US" b="0" dirty="0">
              <a:effectLst/>
            </a:endParaRPr>
          </a:p>
          <a:p>
            <a:pPr rtl="0"/>
            <a:r>
              <a:rPr lang="en-US" sz="1200" b="0" i="0" u="none" strike="noStrike" kern="1200" dirty="0">
                <a:solidFill>
                  <a:schemeClr val="tx1"/>
                </a:solidFill>
                <a:effectLst/>
                <a:latin typeface="+mn-lt"/>
                <a:ea typeface="+mn-ea"/>
                <a:cs typeface="+mn-cs"/>
              </a:rPr>
              <a:t>My recommendation is a human-in-the-loop clinical intelligence layer: AI surfaces relevant information, and the expert reviewer makes the final judgment.</a:t>
            </a:r>
            <a:endParaRPr lang="en-US" b="0" dirty="0">
              <a:effectLst/>
            </a:endParaRPr>
          </a:p>
          <a:p>
            <a:pPr rtl="0"/>
            <a:r>
              <a:rPr lang="en-US" sz="1200" b="0" i="0" u="none" strike="noStrike" kern="1200" dirty="0">
                <a:solidFill>
                  <a:schemeClr val="tx1"/>
                </a:solidFill>
                <a:effectLst/>
                <a:latin typeface="+mn-lt"/>
                <a:ea typeface="+mn-ea"/>
                <a:cs typeface="+mn-cs"/>
              </a:rPr>
              <a:t>My strategic recommendation for Cotiviti is to continue investing in clinically focused LLM workflows that combine summarization, entity extraction, documentation gap detection, and question answering.</a:t>
            </a:r>
            <a:endParaRPr lang="en-US" b="0" dirty="0">
              <a:effectLst/>
            </a:endParaRPr>
          </a:p>
          <a:p>
            <a:pPr rtl="0"/>
            <a:r>
              <a:rPr lang="en-US" sz="1200" b="0" i="0" u="none" strike="noStrike" kern="1200" dirty="0">
                <a:solidFill>
                  <a:schemeClr val="tx1"/>
                </a:solidFill>
                <a:effectLst/>
                <a:latin typeface="+mn-lt"/>
                <a:ea typeface="+mn-ea"/>
                <a:cs typeface="+mn-cs"/>
              </a:rPr>
              <a:t>I also recommend positioning responsible AI as a differentiator.</a:t>
            </a:r>
            <a:endParaRPr lang="en-US" b="0" dirty="0">
              <a:effectLst/>
            </a:endParaRPr>
          </a:p>
          <a:p>
            <a:pPr rtl="0"/>
            <a:r>
              <a:rPr lang="en-US" sz="1200" b="0" i="0" u="none" strike="noStrike" kern="1200" dirty="0">
                <a:solidFill>
                  <a:schemeClr val="tx1"/>
                </a:solidFill>
                <a:effectLst/>
                <a:latin typeface="+mn-lt"/>
                <a:ea typeface="+mn-ea"/>
                <a:cs typeface="+mn-cs"/>
              </a:rPr>
              <a:t>Cotiviti emphasizes trust, transparency, accountability, and healthcare performance. A strong AI product should reflect those same values by being explainable, reviewable, and connected to measurable client value.</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Now I’ll switch from the report to the proof of concept.</a:t>
            </a:r>
            <a:endParaRPr lang="en-US" b="0" dirty="0">
              <a:effectLst/>
            </a:endParaRPr>
          </a:p>
          <a:p>
            <a:pPr rtl="0"/>
            <a:r>
              <a:rPr lang="en-US" sz="1200" b="0" i="0" u="none" strike="noStrike" kern="1200" dirty="0">
                <a:solidFill>
                  <a:schemeClr val="tx1"/>
                </a:solidFill>
                <a:effectLst/>
                <a:latin typeface="+mn-lt"/>
                <a:ea typeface="+mn-ea"/>
                <a:cs typeface="+mn-cs"/>
              </a:rPr>
              <a:t>The report explains the strategic opportunity. The POC demonstrates the core capability.</a:t>
            </a:r>
            <a:endParaRPr lang="en-US" b="0" dirty="0">
              <a:effectLst/>
            </a:endParaRPr>
          </a:p>
          <a:p>
            <a:pPr rtl="0"/>
            <a:r>
              <a:rPr lang="en-US" sz="1200" b="0" i="0" u="none" strike="noStrike" kern="1200" dirty="0">
                <a:solidFill>
                  <a:schemeClr val="tx1"/>
                </a:solidFill>
                <a:effectLst/>
                <a:latin typeface="+mn-lt"/>
                <a:ea typeface="+mn-ea"/>
                <a:cs typeface="+mn-cs"/>
              </a:rPr>
              <a:t>This is the Clinical Report AI Assistant. The interface is minimalistic and right to the point.</a:t>
            </a:r>
            <a:endParaRPr lang="en-US" b="0" dirty="0">
              <a:effectLst/>
            </a:endParaRPr>
          </a:p>
          <a:p>
            <a:pPr rtl="0"/>
            <a:r>
              <a:rPr lang="en-US" sz="1200" b="0" i="0" u="none" strike="noStrike" kern="1200" dirty="0">
                <a:solidFill>
                  <a:schemeClr val="tx1"/>
                </a:solidFill>
                <a:effectLst/>
                <a:latin typeface="+mn-lt"/>
                <a:ea typeface="+mn-ea"/>
                <a:cs typeface="+mn-cs"/>
              </a:rPr>
              <a:t>On the left side, I show the product framing, the core features, and the tech stack: Python, </a:t>
            </a:r>
            <a:r>
              <a:rPr lang="en-US" sz="1200" b="0" i="0" u="none" strike="noStrike" kern="1200" dirty="0" err="1">
                <a:solidFill>
                  <a:schemeClr val="tx1"/>
                </a:solidFill>
                <a:effectLst/>
                <a:latin typeface="+mn-lt"/>
                <a:ea typeface="+mn-ea"/>
                <a:cs typeface="+mn-cs"/>
              </a:rPr>
              <a:t>Streamlit</a:t>
            </a:r>
            <a:r>
              <a:rPr lang="en-US" sz="1200" b="0" i="0" u="none" strike="noStrike" kern="1200" dirty="0">
                <a:solidFill>
                  <a:schemeClr val="tx1"/>
                </a:solidFill>
                <a:effectLst/>
                <a:latin typeface="+mn-lt"/>
                <a:ea typeface="+mn-ea"/>
                <a:cs typeface="+mn-cs"/>
              </a:rPr>
              <a:t>, CSS, Google Gemini API, </a:t>
            </a:r>
            <a:r>
              <a:rPr lang="en-US" sz="1200" b="0" i="0" u="none" strike="noStrike" kern="1200" dirty="0" err="1">
                <a:solidFill>
                  <a:schemeClr val="tx1"/>
                </a:solidFill>
                <a:effectLst/>
                <a:latin typeface="+mn-lt"/>
                <a:ea typeface="+mn-ea"/>
                <a:cs typeface="+mn-cs"/>
              </a:rPr>
              <a:t>PyPDF</a:t>
            </a:r>
            <a:r>
              <a:rPr lang="en-US" sz="1200" b="0" i="0" u="none" strike="noStrike" kern="1200" dirty="0">
                <a:solidFill>
                  <a:schemeClr val="tx1"/>
                </a:solidFill>
                <a:effectLst/>
                <a:latin typeface="+mn-lt"/>
                <a:ea typeface="+mn-ea"/>
                <a:cs typeface="+mn-cs"/>
              </a:rPr>
              <a:t>, and pandas.</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I’m going to upload a sample clinical report now.</a:t>
            </a:r>
            <a:endParaRPr lang="en-US" b="0" dirty="0">
              <a:effectLst/>
            </a:endParaRPr>
          </a:p>
          <a:p>
            <a:pPr rtl="0"/>
            <a:r>
              <a:rPr lang="en-US" sz="1200" b="0" i="0" u="none" strike="noStrike" kern="1200" dirty="0">
                <a:solidFill>
                  <a:schemeClr val="tx1"/>
                </a:solidFill>
                <a:effectLst/>
                <a:latin typeface="+mn-lt"/>
                <a:ea typeface="+mn-ea"/>
                <a:cs typeface="+mn-cs"/>
              </a:rPr>
              <a:t>The app extracts text from the PDF, or a reviewer can paste a clinical note directly.</a:t>
            </a:r>
            <a:endParaRPr lang="en-US" b="0" dirty="0">
              <a:effectLst/>
            </a:endParaRPr>
          </a:p>
          <a:p>
            <a:pPr rtl="0"/>
            <a:r>
              <a:rPr lang="en-US" sz="1200" b="0" i="0" u="none" strike="noStrike" kern="1200" dirty="0">
                <a:solidFill>
                  <a:schemeClr val="tx1"/>
                </a:solidFill>
                <a:effectLst/>
                <a:latin typeface="+mn-lt"/>
                <a:ea typeface="+mn-ea"/>
                <a:cs typeface="+mn-cs"/>
              </a:rPr>
              <a:t>Once the note changes, the app clears previous outputs. That is an important safety detail. In healthcare, stale results from a previous document would be unacceptable, so the app resets the summary, entity table, documentation review, and Q&amp;A whenever the input changes.</a:t>
            </a:r>
            <a:endParaRPr lang="en-US" b="0" dirty="0">
              <a:effectLst/>
            </a:endParaRPr>
          </a:p>
          <a:p>
            <a:pPr rtl="0"/>
            <a:r>
              <a:rPr lang="en-US" sz="1200" b="0" i="0" u="none" strike="noStrike" kern="1200" dirty="0">
                <a:solidFill>
                  <a:schemeClr val="tx1"/>
                </a:solidFill>
                <a:effectLst/>
                <a:latin typeface="+mn-lt"/>
                <a:ea typeface="+mn-ea"/>
                <a:cs typeface="+mn-cs"/>
              </a:rPr>
              <a:t>Now the dashboard shows the document is ready.</a:t>
            </a:r>
            <a:endParaRPr lang="en-US" b="0" dirty="0">
              <a:effectLst/>
            </a:endParaRPr>
          </a:p>
          <a:p>
            <a:pPr rtl="0"/>
            <a:r>
              <a:rPr lang="en-US" sz="1200" b="0" i="0" u="none" strike="noStrike" kern="1200" dirty="0">
                <a:solidFill>
                  <a:schemeClr val="tx1"/>
                </a:solidFill>
                <a:effectLst/>
                <a:latin typeface="+mn-lt"/>
                <a:ea typeface="+mn-ea"/>
                <a:cs typeface="+mn-cs"/>
              </a:rPr>
              <a:t>It tracks whether a document is loaded, whether entities have been extracted, whether documentation review is complete, and whether the AI is ready.</a:t>
            </a:r>
            <a:endParaRPr lang="en-US" b="0" dirty="0">
              <a:effectLst/>
            </a:endParaRPr>
          </a:p>
          <a:p>
            <a:pPr rtl="0"/>
            <a:r>
              <a:rPr lang="en-US" sz="1200" b="0" i="0" u="none" strike="noStrike" kern="1200" dirty="0">
                <a:solidFill>
                  <a:schemeClr val="tx1"/>
                </a:solidFill>
                <a:effectLst/>
                <a:latin typeface="+mn-lt"/>
                <a:ea typeface="+mn-ea"/>
                <a:cs typeface="+mn-cs"/>
              </a:rPr>
              <a:t>This is small, but it reflects workflow design: reviewers need to know what has been completed and what is still pending.</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6:35–9:35 — Use this slide as your cue card. Walk through each step in order, calling out the business value on the right side of each card. Show reviewers that every feature has a real Cotiviti use case attached to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To close, my report and POC both point to the same conclusion: Cotiviti can use clinical natural language technology not as a replacement for expertise, but as infrastructure that makes expert review faster, more consistent, and more scalable.</a:t>
            </a:r>
            <a:endParaRPr lang="en-US" b="0" dirty="0">
              <a:effectLst/>
            </a:endParaRPr>
          </a:p>
          <a:p>
            <a:pPr rtl="0"/>
            <a:r>
              <a:rPr lang="en-US" sz="1200" b="0" i="0" u="none" strike="noStrike" kern="1200" dirty="0">
                <a:solidFill>
                  <a:schemeClr val="tx1"/>
                </a:solidFill>
                <a:effectLst/>
                <a:latin typeface="+mn-lt"/>
                <a:ea typeface="+mn-ea"/>
                <a:cs typeface="+mn-cs"/>
              </a:rPr>
              <a:t>This project reflects the kind of intern I want to be: technical enough to build, analytical enough to understand the business value, and responsible enough to know that in healthcare, the goal is not just automation.</a:t>
            </a:r>
            <a:endParaRPr lang="en-US" b="0" dirty="0">
              <a:effectLst/>
            </a:endParaRPr>
          </a:p>
          <a:p>
            <a:pPr rtl="0"/>
            <a:r>
              <a:rPr lang="en-US" sz="1200" b="0" i="0" u="none" strike="noStrike" kern="1200" dirty="0">
                <a:solidFill>
                  <a:schemeClr val="tx1"/>
                </a:solidFill>
                <a:effectLst/>
                <a:latin typeface="+mn-lt"/>
                <a:ea typeface="+mn-ea"/>
                <a:cs typeface="+mn-cs"/>
              </a:rPr>
              <a:t>The goal is better, more trustworthy decisions.</a:t>
            </a:r>
            <a:endParaRPr lang="en-US" b="0" dirty="0">
              <a:effectLst/>
            </a:endParaRPr>
          </a:p>
          <a:p>
            <a:pPr rtl="0"/>
            <a:r>
              <a:rPr lang="en-US" sz="1200" b="0" i="0" u="none" strike="noStrike" kern="1200" dirty="0">
                <a:solidFill>
                  <a:schemeClr val="tx1"/>
                </a:solidFill>
                <a:effectLst/>
                <a:latin typeface="+mn-lt"/>
                <a:ea typeface="+mn-ea"/>
                <a:cs typeface="+mn-cs"/>
              </a:rPr>
              <a:t>Thank you for reviewing my submission.</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3C"/>
        </a:solidFill>
        <a:effectLst/>
      </p:bgPr>
    </p:bg>
    <p:spTree>
      <p:nvGrpSpPr>
        <p:cNvPr id="1" name=""/>
        <p:cNvGrpSpPr/>
        <p:nvPr/>
      </p:nvGrpSpPr>
      <p:grpSpPr>
        <a:xfrm>
          <a:off x="0" y="0"/>
          <a:ext cx="0" cy="0"/>
          <a:chOff x="0" y="0"/>
          <a:chExt cx="0" cy="0"/>
        </a:xfrm>
      </p:grpSpPr>
      <p:sp>
        <p:nvSpPr>
          <p:cNvPr id="2" name="Shape 0"/>
          <p:cNvSpPr/>
          <p:nvPr/>
        </p:nvSpPr>
        <p:spPr>
          <a:xfrm>
            <a:off x="6949440" y="-1188720"/>
            <a:ext cx="3840480" cy="3840480"/>
          </a:xfrm>
          <a:prstGeom prst="ellipse">
            <a:avLst/>
          </a:prstGeom>
          <a:solidFill>
            <a:srgbClr val="4B2D8F">
              <a:alpha val="38000"/>
            </a:srgbClr>
          </a:solidFill>
          <a:ln w="12700">
            <a:solidFill>
              <a:srgbClr val="4B2D8F">
                <a:alpha val="38000"/>
              </a:srgbClr>
            </a:solidFill>
            <a:prstDash val="solid"/>
          </a:ln>
        </p:spPr>
        <p:txBody>
          <a:bodyPr/>
          <a:lstStyle/>
          <a:p>
            <a:endParaRPr lang="en-US"/>
          </a:p>
        </p:txBody>
      </p:sp>
      <p:sp>
        <p:nvSpPr>
          <p:cNvPr id="3" name="Shape 1"/>
          <p:cNvSpPr/>
          <p:nvPr/>
        </p:nvSpPr>
        <p:spPr>
          <a:xfrm>
            <a:off x="7772400" y="-365760"/>
            <a:ext cx="2011680" cy="2011680"/>
          </a:xfrm>
          <a:prstGeom prst="ellipse">
            <a:avLst/>
          </a:prstGeom>
          <a:solidFill>
            <a:srgbClr val="6B4DB0">
              <a:alpha val="45000"/>
            </a:srgbClr>
          </a:solidFill>
          <a:ln w="12700">
            <a:solidFill>
              <a:srgbClr val="6B4DB0">
                <a:alpha val="45000"/>
              </a:srgbClr>
            </a:solidFill>
            <a:prstDash val="solid"/>
          </a:ln>
        </p:spPr>
        <p:txBody>
          <a:bodyPr/>
          <a:lstStyle/>
          <a:p>
            <a:endParaRPr lang="en-US"/>
          </a:p>
        </p:txBody>
      </p:sp>
      <p:sp>
        <p:nvSpPr>
          <p:cNvPr id="4" name="Shape 2"/>
          <p:cNvSpPr/>
          <p:nvPr/>
        </p:nvSpPr>
        <p:spPr>
          <a:xfrm>
            <a:off x="-914400" y="3474720"/>
            <a:ext cx="2743200" cy="2743200"/>
          </a:xfrm>
          <a:prstGeom prst="ellipse">
            <a:avLst/>
          </a:prstGeom>
          <a:solidFill>
            <a:srgbClr val="2D1A5C">
              <a:alpha val="50000"/>
            </a:srgbClr>
          </a:solidFill>
          <a:ln w="12700">
            <a:solidFill>
              <a:srgbClr val="2D1A5C">
                <a:alpha val="50000"/>
              </a:srgbClr>
            </a:solidFill>
            <a:prstDash val="solid"/>
          </a:ln>
        </p:spPr>
        <p:txBody>
          <a:bodyPr/>
          <a:lstStyle/>
          <a:p>
            <a:endParaRPr lang="en-US"/>
          </a:p>
        </p:txBody>
      </p:sp>
      <p:sp>
        <p:nvSpPr>
          <p:cNvPr id="5" name="Text 3"/>
          <p:cNvSpPr/>
          <p:nvPr/>
        </p:nvSpPr>
        <p:spPr>
          <a:xfrm>
            <a:off x="502920" y="384048"/>
            <a:ext cx="3657600" cy="365760"/>
          </a:xfrm>
          <a:prstGeom prst="rect">
            <a:avLst/>
          </a:prstGeom>
          <a:noFill/>
          <a:ln/>
        </p:spPr>
        <p:txBody>
          <a:bodyPr wrap="square" lIns="0" tIns="0" rIns="0" bIns="0" rtlCol="0" anchor="ctr"/>
          <a:lstStyle/>
          <a:p>
            <a:pPr marL="0" indent="0">
              <a:buNone/>
            </a:pPr>
            <a:r>
              <a:rPr lang="en-US" sz="1100" b="1" kern="0" spc="600" dirty="0">
                <a:solidFill>
                  <a:srgbClr val="E8E0F8"/>
                </a:solidFill>
                <a:latin typeface="Arial" pitchFamily="34" charset="0"/>
                <a:ea typeface="Arial" pitchFamily="34" charset="-122"/>
                <a:cs typeface="Arial" pitchFamily="34" charset="-120"/>
              </a:rPr>
              <a:t>C O T I V I T I</a:t>
            </a:r>
            <a:endParaRPr lang="en-US" sz="1100" dirty="0"/>
          </a:p>
        </p:txBody>
      </p:sp>
      <p:sp>
        <p:nvSpPr>
          <p:cNvPr id="6" name="Text 4"/>
          <p:cNvSpPr/>
          <p:nvPr/>
        </p:nvSpPr>
        <p:spPr>
          <a:xfrm>
            <a:off x="502920" y="868680"/>
            <a:ext cx="7772400" cy="1920240"/>
          </a:xfrm>
          <a:prstGeom prst="rect">
            <a:avLst/>
          </a:prstGeom>
          <a:noFill/>
          <a:ln/>
        </p:spPr>
        <p:txBody>
          <a:bodyPr wrap="square"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Clinical Natural Language</a:t>
            </a:r>
            <a:endParaRPr lang="en-US" sz="4200" dirty="0"/>
          </a:p>
          <a:p>
            <a:pPr marL="0" indent="0">
              <a:buNone/>
            </a:pPr>
            <a:r>
              <a:rPr lang="en-US" sz="4200" b="1" dirty="0">
                <a:solidFill>
                  <a:srgbClr val="FFFFFF"/>
                </a:solidFill>
                <a:latin typeface="Cambria" pitchFamily="34" charset="0"/>
                <a:ea typeface="Cambria" pitchFamily="34" charset="-122"/>
                <a:cs typeface="Cambria" pitchFamily="34" charset="-120"/>
              </a:rPr>
              <a:t>Technology for Health Care</a:t>
            </a:r>
            <a:endParaRPr lang="en-US" sz="4200" dirty="0"/>
          </a:p>
        </p:txBody>
      </p:sp>
      <p:sp>
        <p:nvSpPr>
          <p:cNvPr id="7" name="Text 5"/>
          <p:cNvSpPr/>
          <p:nvPr/>
        </p:nvSpPr>
        <p:spPr>
          <a:xfrm>
            <a:off x="502920" y="2816352"/>
            <a:ext cx="7315200" cy="384048"/>
          </a:xfrm>
          <a:prstGeom prst="rect">
            <a:avLst/>
          </a:prstGeom>
          <a:noFill/>
          <a:ln/>
        </p:spPr>
        <p:txBody>
          <a:bodyPr wrap="square" lIns="0" tIns="0" rIns="0" bIns="0" rtlCol="0" anchor="ctr"/>
          <a:lstStyle/>
          <a:p>
            <a:pPr marL="0" indent="0">
              <a:buNone/>
            </a:pPr>
            <a:r>
              <a:rPr lang="en-US" sz="1300" i="1" dirty="0">
                <a:solidFill>
                  <a:srgbClr val="E8E0F8"/>
                </a:solidFill>
                <a:latin typeface="Arial" pitchFamily="34" charset="0"/>
                <a:ea typeface="Arial" pitchFamily="34" charset="-122"/>
                <a:cs typeface="Arial" pitchFamily="34" charset="-120"/>
              </a:rPr>
              <a:t>NLP · OCR · Computer Vision · LLM · LMM</a:t>
            </a:r>
            <a:endParaRPr lang="en-US" sz="1300" dirty="0"/>
          </a:p>
        </p:txBody>
      </p:sp>
      <p:sp>
        <p:nvSpPr>
          <p:cNvPr id="8" name="Shape 6"/>
          <p:cNvSpPr/>
          <p:nvPr/>
        </p:nvSpPr>
        <p:spPr>
          <a:xfrm>
            <a:off x="502920" y="3291840"/>
            <a:ext cx="2743200" cy="36576"/>
          </a:xfrm>
          <a:prstGeom prst="rect">
            <a:avLst/>
          </a:prstGeom>
          <a:solidFill>
            <a:srgbClr val="6B4DB0"/>
          </a:solidFill>
          <a:ln w="12700">
            <a:solidFill>
              <a:srgbClr val="6B4DB0"/>
            </a:solidFill>
            <a:prstDash val="solid"/>
          </a:ln>
        </p:spPr>
        <p:txBody>
          <a:bodyPr/>
          <a:lstStyle/>
          <a:p>
            <a:endParaRPr lang="en-US"/>
          </a:p>
        </p:txBody>
      </p:sp>
      <p:sp>
        <p:nvSpPr>
          <p:cNvPr id="9" name="Text 7"/>
          <p:cNvSpPr/>
          <p:nvPr/>
        </p:nvSpPr>
        <p:spPr>
          <a:xfrm>
            <a:off x="502920" y="3401568"/>
            <a:ext cx="7315200" cy="658368"/>
          </a:xfrm>
          <a:prstGeom prst="rect">
            <a:avLst/>
          </a:prstGeom>
          <a:noFill/>
          <a:ln/>
        </p:spPr>
        <p:txBody>
          <a:bodyPr wrap="square" rtlCol="0" anchor="ctr"/>
          <a:lstStyle/>
          <a:p>
            <a:pPr marL="0" indent="0">
              <a:buNone/>
            </a:pPr>
            <a:r>
              <a:rPr lang="en-US" sz="1200" b="1" dirty="0">
                <a:solidFill>
                  <a:srgbClr val="E8E0F8"/>
                </a:solidFill>
                <a:latin typeface="Arial" pitchFamily="34" charset="0"/>
                <a:ea typeface="Arial" pitchFamily="34" charset="-122"/>
                <a:cs typeface="Arial" pitchFamily="34" charset="-120"/>
              </a:rPr>
              <a:t>Shrihan Anikapati</a:t>
            </a:r>
            <a:endParaRPr lang="en-US" sz="1200" dirty="0"/>
          </a:p>
          <a:p>
            <a:pPr marL="0" indent="0">
              <a:buNone/>
            </a:pPr>
            <a:r>
              <a:rPr lang="en-US" sz="1200" dirty="0">
                <a:solidFill>
                  <a:srgbClr val="E8E0F8"/>
                </a:solidFill>
                <a:latin typeface="Arial" pitchFamily="34" charset="0"/>
                <a:ea typeface="Arial" pitchFamily="34" charset="-122"/>
                <a:cs typeface="Arial" pitchFamily="34" charset="-120"/>
              </a:rPr>
              <a:t>ECE Honors &amp; Mathematics · Finance Minor  |  The University of Texas at Austin</a:t>
            </a:r>
            <a:endParaRPr lang="en-US" sz="1200" dirty="0"/>
          </a:p>
        </p:txBody>
      </p:sp>
      <p:pic>
        <p:nvPicPr>
          <p:cNvPr id="10" name="Image 0" descr="preencoded.png"/>
          <p:cNvPicPr>
            <a:picLocks noChangeAspect="1"/>
          </p:cNvPicPr>
          <p:nvPr/>
        </p:nvPicPr>
        <p:blipFill>
          <a:blip r:embed="rId3"/>
          <a:stretch>
            <a:fillRect/>
          </a:stretch>
        </p:blipFill>
        <p:spPr>
          <a:xfrm>
            <a:off x="7772400" y="2468880"/>
            <a:ext cx="868680" cy="868680"/>
          </a:xfrm>
          <a:prstGeom prst="rect">
            <a:avLst/>
          </a:prstGeom>
        </p:spPr>
      </p:pic>
      <p:sp>
        <p:nvSpPr>
          <p:cNvPr id="11" name="Text 8"/>
          <p:cNvSpPr/>
          <p:nvPr/>
        </p:nvSpPr>
        <p:spPr>
          <a:xfrm>
            <a:off x="502920" y="4828032"/>
            <a:ext cx="8229600" cy="201168"/>
          </a:xfrm>
          <a:prstGeom prst="rect">
            <a:avLst/>
          </a:prstGeom>
          <a:noFill/>
          <a:ln/>
        </p:spPr>
        <p:txBody>
          <a:bodyPr wrap="square" lIns="0" tIns="0" rIns="0" bIns="0" rtlCol="0" anchor="ctr"/>
          <a:lstStyle/>
          <a:p>
            <a:pPr marL="0" indent="0">
              <a:buNone/>
            </a:pPr>
            <a:r>
              <a:rPr lang="en-US" sz="900" i="1" dirty="0">
                <a:solidFill>
                  <a:srgbClr val="6B4DB0"/>
                </a:solidFill>
                <a:latin typeface="Arial" pitchFamily="34" charset="0"/>
                <a:ea typeface="Arial" pitchFamily="34" charset="-122"/>
                <a:cs typeface="Arial" pitchFamily="34" charset="-120"/>
              </a:rPr>
              <a:t>Cotiviti Intern Assessment  ·  2026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199"/>
    </mc:Choice>
    <mc:Fallback>
      <p:transition spd="slow" advTm="19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320040"/>
            <a:ext cx="3977640" cy="4572000"/>
          </a:xfrm>
          <a:prstGeom prst="roundRect">
            <a:avLst>
              <a:gd name="adj" fmla="val 2989"/>
            </a:avLst>
          </a:prstGeom>
          <a:solidFill>
            <a:srgbClr val="1A0A3C"/>
          </a:solidFill>
          <a:ln w="12700">
            <a:solidFill>
              <a:srgbClr val="1A0A3C"/>
            </a:solidFill>
            <a:prstDash val="solid"/>
          </a:ln>
          <a:effectLst>
            <a:outerShdw blurRad="127000" dist="25400" dir="2700000" algn="bl" rotWithShape="0">
              <a:srgbClr val="000000">
                <a:alpha val="9000"/>
              </a:srgbClr>
            </a:outerShdw>
          </a:effectLst>
        </p:spPr>
        <p:txBody>
          <a:bodyPr/>
          <a:lstStyle/>
          <a:p>
            <a:endParaRPr lang="en-US"/>
          </a:p>
        </p:txBody>
      </p:sp>
      <p:sp>
        <p:nvSpPr>
          <p:cNvPr id="3" name="Text 1"/>
          <p:cNvSpPr/>
          <p:nvPr/>
        </p:nvSpPr>
        <p:spPr>
          <a:xfrm>
            <a:off x="594360" y="548640"/>
            <a:ext cx="347472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About Me</a:t>
            </a:r>
            <a:endParaRPr lang="en-US" sz="1800" dirty="0"/>
          </a:p>
        </p:txBody>
      </p:sp>
      <p:sp>
        <p:nvSpPr>
          <p:cNvPr id="4" name="Shape 2"/>
          <p:cNvSpPr/>
          <p:nvPr/>
        </p:nvSpPr>
        <p:spPr>
          <a:xfrm>
            <a:off x="594360" y="1225296"/>
            <a:ext cx="530352" cy="530352"/>
          </a:xfrm>
          <a:prstGeom prst="ellipse">
            <a:avLst/>
          </a:prstGeom>
          <a:solidFill>
            <a:srgbClr val="6B4DB0"/>
          </a:solidFill>
          <a:ln w="12700">
            <a:solidFill>
              <a:srgbClr val="6B4DB0"/>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335024"/>
            <a:ext cx="292608" cy="292608"/>
          </a:xfrm>
          <a:prstGeom prst="rect">
            <a:avLst/>
          </a:prstGeom>
        </p:spPr>
      </p:pic>
      <p:sp>
        <p:nvSpPr>
          <p:cNvPr id="6" name="Text 3"/>
          <p:cNvSpPr/>
          <p:nvPr/>
        </p:nvSpPr>
        <p:spPr>
          <a:xfrm>
            <a:off x="1261872" y="1207008"/>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ECE Honors + Mathematics</a:t>
            </a:r>
            <a:endParaRPr lang="en-US" sz="1150" dirty="0"/>
          </a:p>
        </p:txBody>
      </p:sp>
      <p:sp>
        <p:nvSpPr>
          <p:cNvPr id="7" name="Text 4"/>
          <p:cNvSpPr/>
          <p:nvPr/>
        </p:nvSpPr>
        <p:spPr>
          <a:xfrm>
            <a:off x="1261872" y="1463040"/>
            <a:ext cx="2926080" cy="384048"/>
          </a:xfrm>
          <a:prstGeom prst="rect">
            <a:avLst/>
          </a:prstGeom>
          <a:noFill/>
          <a:ln/>
        </p:spPr>
        <p:txBody>
          <a:bodyPr wrap="square" rtlCol="0" anchor="ctr"/>
          <a:lstStyle/>
          <a:p>
            <a:pPr marL="0" indent="0">
              <a:buNone/>
            </a:pPr>
            <a:r>
              <a:rPr lang="en-US" sz="950" dirty="0">
                <a:solidFill>
                  <a:srgbClr val="E8E0F8"/>
                </a:solidFill>
                <a:latin typeface="Arial" pitchFamily="34" charset="0"/>
                <a:ea typeface="Arial" pitchFamily="34" charset="-122"/>
                <a:cs typeface="Arial" pitchFamily="34" charset="-120"/>
              </a:rPr>
              <a:t>Statistical reasoning, model reliability, systems thinking</a:t>
            </a:r>
            <a:endParaRPr lang="en-US" sz="950" dirty="0"/>
          </a:p>
        </p:txBody>
      </p:sp>
      <p:sp>
        <p:nvSpPr>
          <p:cNvPr id="8" name="Shape 5"/>
          <p:cNvSpPr/>
          <p:nvPr/>
        </p:nvSpPr>
        <p:spPr>
          <a:xfrm>
            <a:off x="594360" y="2066544"/>
            <a:ext cx="530352" cy="530352"/>
          </a:xfrm>
          <a:prstGeom prst="ellipse">
            <a:avLst/>
          </a:prstGeom>
          <a:solidFill>
            <a:srgbClr val="6B4DB0"/>
          </a:solidFill>
          <a:ln w="12700">
            <a:solidFill>
              <a:srgbClr val="6B4DB0"/>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31520" y="2176272"/>
            <a:ext cx="292608" cy="292608"/>
          </a:xfrm>
          <a:prstGeom prst="rect">
            <a:avLst/>
          </a:prstGeom>
        </p:spPr>
      </p:pic>
      <p:sp>
        <p:nvSpPr>
          <p:cNvPr id="10" name="Text 6"/>
          <p:cNvSpPr/>
          <p:nvPr/>
        </p:nvSpPr>
        <p:spPr>
          <a:xfrm>
            <a:off x="1261872" y="2048256"/>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Finance Minor</a:t>
            </a:r>
            <a:endParaRPr lang="en-US" sz="1150" dirty="0"/>
          </a:p>
        </p:txBody>
      </p:sp>
      <p:sp>
        <p:nvSpPr>
          <p:cNvPr id="11" name="Text 7"/>
          <p:cNvSpPr/>
          <p:nvPr/>
        </p:nvSpPr>
        <p:spPr>
          <a:xfrm>
            <a:off x="1261872" y="2304288"/>
            <a:ext cx="2926080" cy="384048"/>
          </a:xfrm>
          <a:prstGeom prst="rect">
            <a:avLst/>
          </a:prstGeom>
          <a:noFill/>
          <a:ln/>
        </p:spPr>
        <p:txBody>
          <a:bodyPr wrap="square" rtlCol="0" anchor="ctr"/>
          <a:lstStyle/>
          <a:p>
            <a:pPr marL="0" indent="0">
              <a:buNone/>
            </a:pPr>
            <a:r>
              <a:rPr lang="en-US" sz="950" dirty="0">
                <a:solidFill>
                  <a:srgbClr val="E8E0F8"/>
                </a:solidFill>
                <a:latin typeface="Arial" pitchFamily="34" charset="0"/>
                <a:ea typeface="Arial" pitchFamily="34" charset="-122"/>
                <a:cs typeface="Arial" pitchFamily="34" charset="-120"/>
              </a:rPr>
              <a:t>ROI framing, risk exposure, competitive positioning</a:t>
            </a:r>
            <a:endParaRPr lang="en-US" sz="950" dirty="0"/>
          </a:p>
        </p:txBody>
      </p:sp>
      <p:sp>
        <p:nvSpPr>
          <p:cNvPr id="12" name="Shape 8"/>
          <p:cNvSpPr/>
          <p:nvPr/>
        </p:nvSpPr>
        <p:spPr>
          <a:xfrm>
            <a:off x="594360" y="2907792"/>
            <a:ext cx="530352" cy="530352"/>
          </a:xfrm>
          <a:prstGeom prst="ellipse">
            <a:avLst/>
          </a:prstGeom>
          <a:solidFill>
            <a:srgbClr val="6B4DB0"/>
          </a:solidFill>
          <a:ln w="12700">
            <a:solidFill>
              <a:srgbClr val="6B4DB0"/>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31520" y="3017520"/>
            <a:ext cx="292608" cy="292608"/>
          </a:xfrm>
          <a:prstGeom prst="rect">
            <a:avLst/>
          </a:prstGeom>
        </p:spPr>
      </p:pic>
      <p:sp>
        <p:nvSpPr>
          <p:cNvPr id="14" name="Text 9"/>
          <p:cNvSpPr/>
          <p:nvPr/>
        </p:nvSpPr>
        <p:spPr>
          <a:xfrm>
            <a:off x="1261872" y="2889504"/>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Builder Mindset</a:t>
            </a:r>
            <a:endParaRPr lang="en-US" sz="1150" dirty="0"/>
          </a:p>
        </p:txBody>
      </p:sp>
      <p:sp>
        <p:nvSpPr>
          <p:cNvPr id="15" name="Text 10"/>
          <p:cNvSpPr/>
          <p:nvPr/>
        </p:nvSpPr>
        <p:spPr>
          <a:xfrm>
            <a:off x="1261872" y="3145536"/>
            <a:ext cx="2926080" cy="384048"/>
          </a:xfrm>
          <a:prstGeom prst="rect">
            <a:avLst/>
          </a:prstGeom>
          <a:noFill/>
          <a:ln/>
        </p:spPr>
        <p:txBody>
          <a:bodyPr wrap="square" rtlCol="0" anchor="ctr"/>
          <a:lstStyle/>
          <a:p>
            <a:pPr marL="0" indent="0">
              <a:buNone/>
            </a:pPr>
            <a:r>
              <a:rPr lang="en-US" sz="950" dirty="0">
                <a:solidFill>
                  <a:srgbClr val="E8E0F8"/>
                </a:solidFill>
                <a:latin typeface="Arial" pitchFamily="34" charset="0"/>
                <a:ea typeface="Arial" pitchFamily="34" charset="-122"/>
                <a:cs typeface="Arial" pitchFamily="34" charset="-120"/>
              </a:rPr>
              <a:t>I shipped a working POC for this assessment, not just a slide</a:t>
            </a:r>
            <a:endParaRPr lang="en-US" sz="950" dirty="0"/>
          </a:p>
        </p:txBody>
      </p:sp>
      <p:sp>
        <p:nvSpPr>
          <p:cNvPr id="16" name="Shape 11"/>
          <p:cNvSpPr/>
          <p:nvPr/>
        </p:nvSpPr>
        <p:spPr>
          <a:xfrm>
            <a:off x="594360" y="3749040"/>
            <a:ext cx="530352" cy="530352"/>
          </a:xfrm>
          <a:prstGeom prst="ellipse">
            <a:avLst/>
          </a:prstGeom>
          <a:solidFill>
            <a:srgbClr val="6B4DB0"/>
          </a:solidFill>
          <a:ln w="12700">
            <a:solidFill>
              <a:srgbClr val="6B4DB0"/>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731520" y="3858768"/>
            <a:ext cx="292608" cy="292608"/>
          </a:xfrm>
          <a:prstGeom prst="rect">
            <a:avLst/>
          </a:prstGeom>
        </p:spPr>
      </p:pic>
      <p:sp>
        <p:nvSpPr>
          <p:cNvPr id="18" name="Text 12"/>
          <p:cNvSpPr/>
          <p:nvPr/>
        </p:nvSpPr>
        <p:spPr>
          <a:xfrm>
            <a:off x="1261872" y="3730752"/>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Healthcare AI Focus</a:t>
            </a:r>
            <a:endParaRPr lang="en-US" sz="1150" dirty="0"/>
          </a:p>
        </p:txBody>
      </p:sp>
      <p:sp>
        <p:nvSpPr>
          <p:cNvPr id="19" name="Text 13"/>
          <p:cNvSpPr/>
          <p:nvPr/>
        </p:nvSpPr>
        <p:spPr>
          <a:xfrm>
            <a:off x="1261872" y="3986784"/>
            <a:ext cx="2926080" cy="384048"/>
          </a:xfrm>
          <a:prstGeom prst="rect">
            <a:avLst/>
          </a:prstGeom>
          <a:noFill/>
          <a:ln/>
        </p:spPr>
        <p:txBody>
          <a:bodyPr wrap="square" rtlCol="0" anchor="ctr"/>
          <a:lstStyle/>
          <a:p>
            <a:pPr marL="0" indent="0">
              <a:buNone/>
            </a:pPr>
            <a:r>
              <a:rPr lang="en-US" sz="950" dirty="0">
                <a:solidFill>
                  <a:srgbClr val="E8E0F8"/>
                </a:solidFill>
                <a:latin typeface="Arial" pitchFamily="34" charset="0"/>
                <a:ea typeface="Arial" pitchFamily="34" charset="-122"/>
                <a:cs typeface="Arial" pitchFamily="34" charset="-120"/>
              </a:rPr>
              <a:t>Applied AI where data quality has real human consequences</a:t>
            </a:r>
            <a:endParaRPr lang="en-US" sz="950" dirty="0"/>
          </a:p>
        </p:txBody>
      </p:sp>
      <p:sp>
        <p:nvSpPr>
          <p:cNvPr id="20" name="Text 14"/>
          <p:cNvSpPr/>
          <p:nvPr/>
        </p:nvSpPr>
        <p:spPr>
          <a:xfrm>
            <a:off x="4663440" y="365760"/>
            <a:ext cx="4297680" cy="457200"/>
          </a:xfrm>
          <a:prstGeom prst="rect">
            <a:avLst/>
          </a:prstGeom>
          <a:noFill/>
          <a:ln/>
        </p:spPr>
        <p:txBody>
          <a:bodyPr wrap="square" lIns="0" tIns="0" rIns="0" bIns="0" rtlCol="0" anchor="ctr"/>
          <a:lstStyle/>
          <a:p>
            <a:pPr marL="0" indent="0">
              <a:buNone/>
            </a:pPr>
            <a:r>
              <a:rPr lang="en-US" sz="2200" b="1" dirty="0">
                <a:solidFill>
                  <a:srgbClr val="1A0A3C"/>
                </a:solidFill>
                <a:latin typeface="Cambria" pitchFamily="34" charset="0"/>
                <a:ea typeface="Cambria" pitchFamily="34" charset="-122"/>
                <a:cs typeface="Cambria" pitchFamily="34" charset="-120"/>
              </a:rPr>
              <a:t>Why Cotiviti?</a:t>
            </a:r>
            <a:endParaRPr lang="en-US" sz="2200" dirty="0"/>
          </a:p>
        </p:txBody>
      </p:sp>
      <p:sp>
        <p:nvSpPr>
          <p:cNvPr id="21" name="Text 15"/>
          <p:cNvSpPr/>
          <p:nvPr/>
        </p:nvSpPr>
        <p:spPr>
          <a:xfrm>
            <a:off x="4663440" y="822960"/>
            <a:ext cx="4206240" cy="594360"/>
          </a:xfrm>
          <a:prstGeom prst="rect">
            <a:avLst/>
          </a:prstGeom>
          <a:noFill/>
          <a:ln/>
        </p:spPr>
        <p:txBody>
          <a:bodyPr wrap="square" rtlCol="0" anchor="ctr"/>
          <a:lstStyle/>
          <a:p>
            <a:r>
              <a:rPr lang="en-US" sz="1200" dirty="0"/>
              <a:t>The opportunity to use data, analytics, and technology to improve healthcare accuracy, efficiency, and trust.</a:t>
            </a:r>
          </a:p>
        </p:txBody>
      </p:sp>
      <p:sp>
        <p:nvSpPr>
          <p:cNvPr id="22" name="Shape 16"/>
          <p:cNvSpPr/>
          <p:nvPr/>
        </p:nvSpPr>
        <p:spPr>
          <a:xfrm>
            <a:off x="4572000" y="1536192"/>
            <a:ext cx="4251960" cy="694944"/>
          </a:xfrm>
          <a:prstGeom prst="roundRect">
            <a:avLst>
              <a:gd name="adj" fmla="val 17105"/>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pic>
        <p:nvPicPr>
          <p:cNvPr id="23" name="Image 4" descr="preencoded.png"/>
          <p:cNvPicPr>
            <a:picLocks noChangeAspect="1"/>
          </p:cNvPicPr>
          <p:nvPr/>
        </p:nvPicPr>
        <p:blipFill>
          <a:blip r:embed="rId7"/>
          <a:stretch>
            <a:fillRect/>
          </a:stretch>
        </p:blipFill>
        <p:spPr>
          <a:xfrm>
            <a:off x="4709160" y="1691640"/>
            <a:ext cx="347472" cy="347472"/>
          </a:xfrm>
          <a:prstGeom prst="rect">
            <a:avLst/>
          </a:prstGeom>
        </p:spPr>
      </p:pic>
      <p:sp>
        <p:nvSpPr>
          <p:cNvPr id="24" name="Text 17"/>
          <p:cNvSpPr/>
          <p:nvPr/>
        </p:nvSpPr>
        <p:spPr>
          <a:xfrm>
            <a:off x="5166360" y="1627632"/>
            <a:ext cx="3566160" cy="530352"/>
          </a:xfrm>
          <a:prstGeom prst="rect">
            <a:avLst/>
          </a:prstGeom>
          <a:noFill/>
          <a:ln/>
        </p:spPr>
        <p:txBody>
          <a:bodyPr wrap="square" rtlCol="0" anchor="ctr"/>
          <a:lstStyle/>
          <a:p>
            <a:pPr marL="0" indent="0">
              <a:buNone/>
            </a:pPr>
            <a:r>
              <a:rPr lang="en-US" sz="950" dirty="0">
                <a:solidFill>
                  <a:srgbClr val="374151"/>
                </a:solidFill>
                <a:latin typeface="Arial" pitchFamily="34" charset="0"/>
                <a:ea typeface="Arial" pitchFamily="34" charset="-122"/>
                <a:cs typeface="Arial" pitchFamily="34" charset="-120"/>
              </a:rPr>
              <a:t>Operates where data quality directly affects both patient outcomes AND financial integrity. Most companies optimize for one.</a:t>
            </a:r>
            <a:endParaRPr lang="en-US" sz="950" dirty="0"/>
          </a:p>
        </p:txBody>
      </p:sp>
      <p:sp>
        <p:nvSpPr>
          <p:cNvPr id="25" name="Shape 18"/>
          <p:cNvSpPr/>
          <p:nvPr/>
        </p:nvSpPr>
        <p:spPr>
          <a:xfrm>
            <a:off x="4572000" y="2322576"/>
            <a:ext cx="4251960" cy="694944"/>
          </a:xfrm>
          <a:prstGeom prst="roundRect">
            <a:avLst>
              <a:gd name="adj" fmla="val 17105"/>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pic>
        <p:nvPicPr>
          <p:cNvPr id="26" name="Image 5" descr="preencoded.png"/>
          <p:cNvPicPr>
            <a:picLocks noChangeAspect="1"/>
          </p:cNvPicPr>
          <p:nvPr/>
        </p:nvPicPr>
        <p:blipFill>
          <a:blip r:embed="rId7"/>
          <a:stretch>
            <a:fillRect/>
          </a:stretch>
        </p:blipFill>
        <p:spPr>
          <a:xfrm>
            <a:off x="4709160" y="2478024"/>
            <a:ext cx="347472" cy="347472"/>
          </a:xfrm>
          <a:prstGeom prst="rect">
            <a:avLst/>
          </a:prstGeom>
        </p:spPr>
      </p:pic>
      <p:sp>
        <p:nvSpPr>
          <p:cNvPr id="27" name="Text 19"/>
          <p:cNvSpPr/>
          <p:nvPr/>
        </p:nvSpPr>
        <p:spPr>
          <a:xfrm>
            <a:off x="5166360" y="2414016"/>
            <a:ext cx="3566160" cy="530352"/>
          </a:xfrm>
          <a:prstGeom prst="rect">
            <a:avLst/>
          </a:prstGeom>
          <a:noFill/>
          <a:ln/>
        </p:spPr>
        <p:txBody>
          <a:bodyPr wrap="square" rtlCol="0" anchor="ctr"/>
          <a:lstStyle/>
          <a:p>
            <a:pPr marL="0" indent="0">
              <a:buNone/>
            </a:pPr>
            <a:r>
              <a:rPr lang="en-US" sz="950" dirty="0">
                <a:solidFill>
                  <a:srgbClr val="374151"/>
                </a:solidFill>
                <a:latin typeface="Arial" pitchFamily="34" charset="0"/>
                <a:ea typeface="Arial" pitchFamily="34" charset="-122"/>
                <a:cs typeface="Arial" pitchFamily="34" charset="-120"/>
              </a:rPr>
              <a:t>Responsible AI philosophy: AI amplifies expert judgment, never replaces it. Confirmed in Cotiviti's CCC25 leadership content.</a:t>
            </a:r>
            <a:endParaRPr lang="en-US" sz="950" dirty="0"/>
          </a:p>
        </p:txBody>
      </p:sp>
      <p:sp>
        <p:nvSpPr>
          <p:cNvPr id="28" name="Shape 20"/>
          <p:cNvSpPr/>
          <p:nvPr/>
        </p:nvSpPr>
        <p:spPr>
          <a:xfrm>
            <a:off x="4572000" y="3108960"/>
            <a:ext cx="4251960" cy="694944"/>
          </a:xfrm>
          <a:prstGeom prst="roundRect">
            <a:avLst>
              <a:gd name="adj" fmla="val 17105"/>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pic>
        <p:nvPicPr>
          <p:cNvPr id="29" name="Image 6" descr="preencoded.png"/>
          <p:cNvPicPr>
            <a:picLocks noChangeAspect="1"/>
          </p:cNvPicPr>
          <p:nvPr/>
        </p:nvPicPr>
        <p:blipFill>
          <a:blip r:embed="rId7"/>
          <a:stretch>
            <a:fillRect/>
          </a:stretch>
        </p:blipFill>
        <p:spPr>
          <a:xfrm>
            <a:off x="4709160" y="3264408"/>
            <a:ext cx="347472" cy="347472"/>
          </a:xfrm>
          <a:prstGeom prst="rect">
            <a:avLst/>
          </a:prstGeom>
        </p:spPr>
      </p:pic>
      <p:sp>
        <p:nvSpPr>
          <p:cNvPr id="30" name="Text 21"/>
          <p:cNvSpPr/>
          <p:nvPr/>
        </p:nvSpPr>
        <p:spPr>
          <a:xfrm>
            <a:off x="5166360" y="3200400"/>
            <a:ext cx="3566160" cy="530352"/>
          </a:xfrm>
          <a:prstGeom prst="rect">
            <a:avLst/>
          </a:prstGeom>
          <a:noFill/>
          <a:ln/>
        </p:spPr>
        <p:txBody>
          <a:bodyPr wrap="square" rtlCol="0" anchor="ctr"/>
          <a:lstStyle/>
          <a:p>
            <a:pPr marL="0" indent="0">
              <a:buNone/>
            </a:pPr>
            <a:r>
              <a:rPr lang="en-US" sz="950" dirty="0">
                <a:solidFill>
                  <a:srgbClr val="374151"/>
                </a:solidFill>
                <a:latin typeface="Arial" pitchFamily="34" charset="0"/>
                <a:ea typeface="Arial" pitchFamily="34" charset="-122"/>
                <a:cs typeface="Arial" pitchFamily="34" charset="-120"/>
              </a:rPr>
              <a:t>Post-Visit Review already deploys the NLT stack I researched. This isn't hypothetical for Cotiviti, it's core business.</a:t>
            </a:r>
            <a:endParaRPr lang="en-US" sz="950" dirty="0"/>
          </a:p>
        </p:txBody>
      </p:sp>
      <p:sp>
        <p:nvSpPr>
          <p:cNvPr id="31" name="Shape 22"/>
          <p:cNvSpPr/>
          <p:nvPr/>
        </p:nvSpPr>
        <p:spPr>
          <a:xfrm>
            <a:off x="4572000" y="3895344"/>
            <a:ext cx="4251960" cy="694944"/>
          </a:xfrm>
          <a:prstGeom prst="roundRect">
            <a:avLst>
              <a:gd name="adj" fmla="val 17105"/>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pic>
        <p:nvPicPr>
          <p:cNvPr id="32" name="Image 7" descr="preencoded.png"/>
          <p:cNvPicPr>
            <a:picLocks noChangeAspect="1"/>
          </p:cNvPicPr>
          <p:nvPr/>
        </p:nvPicPr>
        <p:blipFill>
          <a:blip r:embed="rId7"/>
          <a:stretch>
            <a:fillRect/>
          </a:stretch>
        </p:blipFill>
        <p:spPr>
          <a:xfrm>
            <a:off x="4709160" y="4050792"/>
            <a:ext cx="347472" cy="347472"/>
          </a:xfrm>
          <a:prstGeom prst="rect">
            <a:avLst/>
          </a:prstGeom>
        </p:spPr>
      </p:pic>
      <p:sp>
        <p:nvSpPr>
          <p:cNvPr id="33" name="Text 23"/>
          <p:cNvSpPr/>
          <p:nvPr/>
        </p:nvSpPr>
        <p:spPr>
          <a:xfrm>
            <a:off x="5166360" y="3986784"/>
            <a:ext cx="3566160" cy="530352"/>
          </a:xfrm>
          <a:prstGeom prst="rect">
            <a:avLst/>
          </a:prstGeom>
          <a:noFill/>
          <a:ln/>
        </p:spPr>
        <p:txBody>
          <a:bodyPr wrap="square" rtlCol="0" anchor="ctr"/>
          <a:lstStyle/>
          <a:p>
            <a:pPr marL="0" indent="0">
              <a:buNone/>
            </a:pPr>
            <a:r>
              <a:rPr lang="en-US" sz="950" dirty="0">
                <a:solidFill>
                  <a:srgbClr val="374151"/>
                </a:solidFill>
                <a:latin typeface="Arial" pitchFamily="34" charset="0"/>
                <a:ea typeface="Arial" pitchFamily="34" charset="-122"/>
                <a:cs typeface="Arial" pitchFamily="34" charset="-120"/>
              </a:rPr>
              <a:t>#1 highest-designated leader, Everest Group Payment Integrity PEAK Matrix 2025. Market recognizes the differentiation.</a:t>
            </a:r>
            <a:endParaRPr lang="en-US" sz="950" dirty="0"/>
          </a:p>
        </p:txBody>
      </p:sp>
    </p:spTree>
  </p:cSld>
  <p:clrMapOvr>
    <a:masterClrMapping/>
  </p:clrMapOvr>
  <mc:AlternateContent xmlns:mc="http://schemas.openxmlformats.org/markup-compatibility/2006">
    <mc:Choice xmlns:p14="http://schemas.microsoft.com/office/powerpoint/2010/main" Requires="p14">
      <p:transition spd="slow" p14:dur="2000" advTm="540"/>
    </mc:Choice>
    <mc:Fallback>
      <p:transition spd="slow" advTm="54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28600"/>
            <a:ext cx="8321040" cy="530352"/>
          </a:xfrm>
          <a:prstGeom prst="rect">
            <a:avLst/>
          </a:prstGeom>
          <a:noFill/>
          <a:ln/>
        </p:spPr>
        <p:txBody>
          <a:bodyPr wrap="square" lIns="0" tIns="0" rIns="0" bIns="0" rtlCol="0" anchor="ctr"/>
          <a:lstStyle/>
          <a:p>
            <a:pPr marL="0" indent="0">
              <a:buNone/>
            </a:pPr>
            <a:r>
              <a:rPr lang="en-US" sz="3200" b="1" dirty="0">
                <a:solidFill>
                  <a:srgbClr val="1A0A3C"/>
                </a:solidFill>
                <a:latin typeface="Cambria" pitchFamily="34" charset="0"/>
                <a:ea typeface="Cambria" pitchFamily="34" charset="-122"/>
                <a:cs typeface="Cambria" pitchFamily="34" charset="-120"/>
              </a:rPr>
              <a:t>What Is Clinical NLT?</a:t>
            </a:r>
            <a:endParaRPr lang="en-US" sz="3200" dirty="0"/>
          </a:p>
        </p:txBody>
      </p:sp>
      <p:sp>
        <p:nvSpPr>
          <p:cNvPr id="3" name="Text 1"/>
          <p:cNvSpPr/>
          <p:nvPr/>
        </p:nvSpPr>
        <p:spPr>
          <a:xfrm>
            <a:off x="411480" y="758952"/>
            <a:ext cx="8321040" cy="347472"/>
          </a:xfrm>
          <a:prstGeom prst="rect">
            <a:avLst/>
          </a:prstGeom>
          <a:noFill/>
          <a:ln/>
        </p:spPr>
        <p:txBody>
          <a:bodyPr wrap="square" lIns="0" tIns="0" rIns="0" bIns="0" rtlCol="0" anchor="ctr"/>
          <a:lstStyle/>
          <a:p>
            <a:pPr marL="0" indent="0">
              <a:buNone/>
            </a:pPr>
            <a:r>
              <a:rPr lang="en-US" sz="1150" i="1" dirty="0">
                <a:solidFill>
                  <a:srgbClr val="6B7280"/>
                </a:solidFill>
                <a:latin typeface="Arial" pitchFamily="34" charset="0"/>
                <a:ea typeface="Arial" pitchFamily="34" charset="-122"/>
                <a:cs typeface="Arial" pitchFamily="34" charset="-120"/>
              </a:rPr>
              <a:t>A stack of technologies that lets machines read, interpret, and act on clinical language. Each layer solving a different part of the problem.</a:t>
            </a:r>
            <a:endParaRPr lang="en-US" sz="1150" dirty="0"/>
          </a:p>
        </p:txBody>
      </p:sp>
      <p:sp>
        <p:nvSpPr>
          <p:cNvPr id="4" name="Shape 2"/>
          <p:cNvSpPr/>
          <p:nvPr/>
        </p:nvSpPr>
        <p:spPr>
          <a:xfrm>
            <a:off x="320040" y="1207008"/>
            <a:ext cx="2011680" cy="3547872"/>
          </a:xfrm>
          <a:prstGeom prst="roundRect">
            <a:avLst>
              <a:gd name="adj" fmla="val 5909"/>
            </a:avLst>
          </a:prstGeom>
          <a:solidFill>
            <a:srgbClr val="4B2D8F"/>
          </a:solidFill>
          <a:ln w="12700">
            <a:solidFill>
              <a:srgbClr val="4B2D8F"/>
            </a:solidFill>
            <a:prstDash val="solid"/>
          </a:ln>
          <a:effectLst>
            <a:outerShdw blurRad="127000" dist="25400" dir="2700000" algn="bl" rotWithShape="0">
              <a:srgbClr val="000000">
                <a:alpha val="9000"/>
              </a:srgbClr>
            </a:outerShdw>
          </a:effectLst>
        </p:spPr>
        <p:txBody>
          <a:bodyPr/>
          <a:lstStyle/>
          <a:p>
            <a:endParaRPr lang="en-US"/>
          </a:p>
        </p:txBody>
      </p:sp>
      <p:sp>
        <p:nvSpPr>
          <p:cNvPr id="5" name="Shape 3"/>
          <p:cNvSpPr/>
          <p:nvPr/>
        </p:nvSpPr>
        <p:spPr>
          <a:xfrm>
            <a:off x="877824" y="1389888"/>
            <a:ext cx="896112" cy="896112"/>
          </a:xfrm>
          <a:prstGeom prst="ellipse">
            <a:avLst/>
          </a:prstGeom>
          <a:solidFill>
            <a:srgbClr val="FFFFFF">
              <a:alpha val="20000"/>
            </a:srgbClr>
          </a:solidFill>
          <a:ln w="12700">
            <a:solidFill>
              <a:srgbClr val="FFFFFF">
                <a:alpha val="20000"/>
              </a:srgbClr>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14984" y="1527048"/>
            <a:ext cx="621792" cy="621792"/>
          </a:xfrm>
          <a:prstGeom prst="rect">
            <a:avLst/>
          </a:prstGeom>
        </p:spPr>
      </p:pic>
      <p:sp>
        <p:nvSpPr>
          <p:cNvPr id="7" name="Text 4"/>
          <p:cNvSpPr/>
          <p:nvPr/>
        </p:nvSpPr>
        <p:spPr>
          <a:xfrm>
            <a:off x="320040" y="2404872"/>
            <a:ext cx="2011680"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NLP</a:t>
            </a:r>
            <a:endParaRPr lang="en-US" sz="1700" dirty="0"/>
          </a:p>
        </p:txBody>
      </p:sp>
      <p:sp>
        <p:nvSpPr>
          <p:cNvPr id="8" name="Text 5"/>
          <p:cNvSpPr/>
          <p:nvPr/>
        </p:nvSpPr>
        <p:spPr>
          <a:xfrm>
            <a:off x="429768" y="2889504"/>
            <a:ext cx="1792224" cy="1737360"/>
          </a:xfrm>
          <a:prstGeom prst="rect">
            <a:avLst/>
          </a:prstGeom>
          <a:noFill/>
          <a:ln/>
        </p:spPr>
        <p:txBody>
          <a:bodyPr wrap="square" rtlCol="0" anchor="ctr"/>
          <a:lstStyle/>
          <a:p>
            <a:pPr marL="0" indent="0" algn="ctr">
              <a:buNone/>
            </a:pPr>
            <a:r>
              <a:rPr lang="en-US" sz="950" dirty="0">
                <a:solidFill>
                  <a:srgbClr val="E8E0F8"/>
                </a:solidFill>
                <a:latin typeface="Arial" pitchFamily="34" charset="0"/>
                <a:ea typeface="Arial" pitchFamily="34" charset="-122"/>
                <a:cs typeface="Arial" pitchFamily="34" charset="-120"/>
              </a:rPr>
              <a:t>Parses physician notes, extracts diagnoses, handles negations ("no history of diabetes" vs "history of diabetes"), maps to ICD-10 &amp; SNOMED CT.</a:t>
            </a:r>
            <a:endParaRPr lang="en-US" sz="950" dirty="0"/>
          </a:p>
        </p:txBody>
      </p:sp>
      <p:sp>
        <p:nvSpPr>
          <p:cNvPr id="9" name="Shape 6"/>
          <p:cNvSpPr/>
          <p:nvPr/>
        </p:nvSpPr>
        <p:spPr>
          <a:xfrm>
            <a:off x="2496312" y="1207008"/>
            <a:ext cx="2011680" cy="3547872"/>
          </a:xfrm>
          <a:prstGeom prst="roundRect">
            <a:avLst>
              <a:gd name="adj" fmla="val 5909"/>
            </a:avLst>
          </a:prstGeom>
          <a:solidFill>
            <a:srgbClr val="6B4DB0"/>
          </a:solidFill>
          <a:ln w="12700">
            <a:solidFill>
              <a:srgbClr val="6B4DB0"/>
            </a:solidFill>
            <a:prstDash val="solid"/>
          </a:ln>
          <a:effectLst>
            <a:outerShdw blurRad="127000" dist="25400" dir="2700000" algn="bl" rotWithShape="0">
              <a:srgbClr val="000000">
                <a:alpha val="9000"/>
              </a:srgbClr>
            </a:outerShdw>
          </a:effectLst>
        </p:spPr>
        <p:txBody>
          <a:bodyPr/>
          <a:lstStyle/>
          <a:p>
            <a:endParaRPr lang="en-US"/>
          </a:p>
        </p:txBody>
      </p:sp>
      <p:sp>
        <p:nvSpPr>
          <p:cNvPr id="10" name="Shape 7"/>
          <p:cNvSpPr/>
          <p:nvPr/>
        </p:nvSpPr>
        <p:spPr>
          <a:xfrm>
            <a:off x="3054096" y="1389888"/>
            <a:ext cx="896112" cy="896112"/>
          </a:xfrm>
          <a:prstGeom prst="ellipse">
            <a:avLst/>
          </a:prstGeom>
          <a:solidFill>
            <a:srgbClr val="FFFFFF">
              <a:alpha val="20000"/>
            </a:srgbClr>
          </a:solidFill>
          <a:ln w="12700">
            <a:solidFill>
              <a:srgbClr val="FFFFFF">
                <a:alpha val="20000"/>
              </a:srgbClr>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191256" y="1527048"/>
            <a:ext cx="621792" cy="621792"/>
          </a:xfrm>
          <a:prstGeom prst="rect">
            <a:avLst/>
          </a:prstGeom>
        </p:spPr>
      </p:pic>
      <p:sp>
        <p:nvSpPr>
          <p:cNvPr id="12" name="Text 8"/>
          <p:cNvSpPr/>
          <p:nvPr/>
        </p:nvSpPr>
        <p:spPr>
          <a:xfrm>
            <a:off x="2496312" y="2404872"/>
            <a:ext cx="2011680"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OCR</a:t>
            </a:r>
            <a:endParaRPr lang="en-US" sz="1700" dirty="0"/>
          </a:p>
        </p:txBody>
      </p:sp>
      <p:sp>
        <p:nvSpPr>
          <p:cNvPr id="13" name="Text 9"/>
          <p:cNvSpPr/>
          <p:nvPr/>
        </p:nvSpPr>
        <p:spPr>
          <a:xfrm>
            <a:off x="2606040" y="2889504"/>
            <a:ext cx="1792224" cy="1737360"/>
          </a:xfrm>
          <a:prstGeom prst="rect">
            <a:avLst/>
          </a:prstGeom>
          <a:noFill/>
          <a:ln/>
        </p:spPr>
        <p:txBody>
          <a:bodyPr wrap="square" rtlCol="0" anchor="ctr"/>
          <a:lstStyle/>
          <a:p>
            <a:pPr marL="0" indent="0" algn="ctr">
              <a:buNone/>
            </a:pPr>
            <a:r>
              <a:rPr lang="en-US" sz="950" dirty="0">
                <a:solidFill>
                  <a:srgbClr val="E8E0F8"/>
                </a:solidFill>
                <a:latin typeface="Arial" pitchFamily="34" charset="0"/>
                <a:ea typeface="Arial" pitchFamily="34" charset="-122"/>
                <a:cs typeface="Arial" pitchFamily="34" charset="-120"/>
              </a:rPr>
              <a:t>Converts paper records, fax-based claims, and handwritten notes into machine-readable text. This is the prerequisite for everything above.</a:t>
            </a:r>
            <a:endParaRPr lang="en-US" sz="950" dirty="0"/>
          </a:p>
        </p:txBody>
      </p:sp>
      <p:sp>
        <p:nvSpPr>
          <p:cNvPr id="14" name="Shape 10"/>
          <p:cNvSpPr/>
          <p:nvPr/>
        </p:nvSpPr>
        <p:spPr>
          <a:xfrm>
            <a:off x="4672584" y="1207008"/>
            <a:ext cx="2011680" cy="3547872"/>
          </a:xfrm>
          <a:prstGeom prst="roundRect">
            <a:avLst>
              <a:gd name="adj" fmla="val 5909"/>
            </a:avLst>
          </a:prstGeom>
          <a:solidFill>
            <a:srgbClr val="2D1A5C"/>
          </a:solidFill>
          <a:ln w="12700">
            <a:solidFill>
              <a:srgbClr val="2D1A5C"/>
            </a:solidFill>
            <a:prstDash val="solid"/>
          </a:ln>
          <a:effectLst>
            <a:outerShdw blurRad="127000" dist="25400" dir="2700000" algn="bl" rotWithShape="0">
              <a:srgbClr val="000000">
                <a:alpha val="9000"/>
              </a:srgbClr>
            </a:outerShdw>
          </a:effectLst>
        </p:spPr>
        <p:txBody>
          <a:bodyPr/>
          <a:lstStyle/>
          <a:p>
            <a:endParaRPr lang="en-US"/>
          </a:p>
        </p:txBody>
      </p:sp>
      <p:sp>
        <p:nvSpPr>
          <p:cNvPr id="15" name="Shape 11"/>
          <p:cNvSpPr/>
          <p:nvPr/>
        </p:nvSpPr>
        <p:spPr>
          <a:xfrm>
            <a:off x="5230368" y="1389888"/>
            <a:ext cx="896112" cy="896112"/>
          </a:xfrm>
          <a:prstGeom prst="ellipse">
            <a:avLst/>
          </a:prstGeom>
          <a:solidFill>
            <a:srgbClr val="FFFFFF">
              <a:alpha val="20000"/>
            </a:srgbClr>
          </a:solidFill>
          <a:ln w="12700">
            <a:solidFill>
              <a:srgbClr val="FFFFFF">
                <a:alpha val="20000"/>
              </a:srgbClr>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367528" y="1527048"/>
            <a:ext cx="621792" cy="621792"/>
          </a:xfrm>
          <a:prstGeom prst="rect">
            <a:avLst/>
          </a:prstGeom>
        </p:spPr>
      </p:pic>
      <p:sp>
        <p:nvSpPr>
          <p:cNvPr id="17" name="Text 12"/>
          <p:cNvSpPr/>
          <p:nvPr/>
        </p:nvSpPr>
        <p:spPr>
          <a:xfrm>
            <a:off x="4672584" y="2404872"/>
            <a:ext cx="2011680"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CV</a:t>
            </a:r>
            <a:endParaRPr lang="en-US" sz="1700" dirty="0"/>
          </a:p>
        </p:txBody>
      </p:sp>
      <p:sp>
        <p:nvSpPr>
          <p:cNvPr id="18" name="Text 13"/>
          <p:cNvSpPr/>
          <p:nvPr/>
        </p:nvSpPr>
        <p:spPr>
          <a:xfrm>
            <a:off x="4782312" y="2889504"/>
            <a:ext cx="1792224" cy="1737360"/>
          </a:xfrm>
          <a:prstGeom prst="rect">
            <a:avLst/>
          </a:prstGeom>
          <a:noFill/>
          <a:ln/>
        </p:spPr>
        <p:txBody>
          <a:bodyPr wrap="square" rtlCol="0" anchor="ctr"/>
          <a:lstStyle/>
          <a:p>
            <a:pPr marL="0" indent="0" algn="ctr">
              <a:buNone/>
            </a:pPr>
            <a:r>
              <a:rPr lang="en-US" sz="950" dirty="0">
                <a:solidFill>
                  <a:srgbClr val="E8E0F8"/>
                </a:solidFill>
                <a:latin typeface="Arial" pitchFamily="34" charset="0"/>
                <a:ea typeface="Arial" pitchFamily="34" charset="-122"/>
                <a:cs typeface="Arial" pitchFamily="34" charset="-120"/>
              </a:rPr>
              <a:t>Extracts clinical signal from radiology images, scanned operative reports, and multi-page PDF forms alongside text.</a:t>
            </a:r>
            <a:endParaRPr lang="en-US" sz="950" dirty="0"/>
          </a:p>
        </p:txBody>
      </p:sp>
      <p:sp>
        <p:nvSpPr>
          <p:cNvPr id="19" name="Shape 14"/>
          <p:cNvSpPr/>
          <p:nvPr/>
        </p:nvSpPr>
        <p:spPr>
          <a:xfrm>
            <a:off x="6848856" y="1207008"/>
            <a:ext cx="2011680" cy="3547872"/>
          </a:xfrm>
          <a:prstGeom prst="roundRect">
            <a:avLst>
              <a:gd name="adj" fmla="val 5909"/>
            </a:avLst>
          </a:prstGeom>
          <a:solidFill>
            <a:srgbClr val="1A0A3C"/>
          </a:solidFill>
          <a:ln w="12700">
            <a:solidFill>
              <a:srgbClr val="1A0A3C"/>
            </a:solidFill>
            <a:prstDash val="solid"/>
          </a:ln>
          <a:effectLst>
            <a:outerShdw blurRad="127000" dist="25400" dir="2700000" algn="bl" rotWithShape="0">
              <a:srgbClr val="000000">
                <a:alpha val="9000"/>
              </a:srgbClr>
            </a:outerShdw>
          </a:effectLst>
        </p:spPr>
        <p:txBody>
          <a:bodyPr/>
          <a:lstStyle/>
          <a:p>
            <a:endParaRPr lang="en-US"/>
          </a:p>
        </p:txBody>
      </p:sp>
      <p:sp>
        <p:nvSpPr>
          <p:cNvPr id="20" name="Shape 15"/>
          <p:cNvSpPr/>
          <p:nvPr/>
        </p:nvSpPr>
        <p:spPr>
          <a:xfrm>
            <a:off x="7406640" y="1389888"/>
            <a:ext cx="896112" cy="896112"/>
          </a:xfrm>
          <a:prstGeom prst="ellipse">
            <a:avLst/>
          </a:prstGeom>
          <a:solidFill>
            <a:srgbClr val="FFFFFF">
              <a:alpha val="20000"/>
            </a:srgbClr>
          </a:solidFill>
          <a:ln w="12700">
            <a:solidFill>
              <a:srgbClr val="FFFFFF">
                <a:alpha val="20000"/>
              </a:srgbClr>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7543800" y="1527048"/>
            <a:ext cx="621792" cy="621792"/>
          </a:xfrm>
          <a:prstGeom prst="rect">
            <a:avLst/>
          </a:prstGeom>
        </p:spPr>
      </p:pic>
      <p:sp>
        <p:nvSpPr>
          <p:cNvPr id="22" name="Text 16"/>
          <p:cNvSpPr/>
          <p:nvPr/>
        </p:nvSpPr>
        <p:spPr>
          <a:xfrm>
            <a:off x="6848856" y="2404872"/>
            <a:ext cx="2011680"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LLM/LMM</a:t>
            </a:r>
            <a:endParaRPr lang="en-US" sz="1700" dirty="0"/>
          </a:p>
        </p:txBody>
      </p:sp>
      <p:sp>
        <p:nvSpPr>
          <p:cNvPr id="23" name="Text 17"/>
          <p:cNvSpPr/>
          <p:nvPr/>
        </p:nvSpPr>
        <p:spPr>
          <a:xfrm>
            <a:off x="6958584" y="2889504"/>
            <a:ext cx="1792224" cy="1737360"/>
          </a:xfrm>
          <a:prstGeom prst="rect">
            <a:avLst/>
          </a:prstGeom>
          <a:noFill/>
          <a:ln/>
        </p:spPr>
        <p:txBody>
          <a:bodyPr wrap="square" rtlCol="0" anchor="ctr"/>
          <a:lstStyle/>
          <a:p>
            <a:pPr marL="0" indent="0" algn="ctr">
              <a:buNone/>
            </a:pPr>
            <a:r>
              <a:rPr lang="en-US" sz="950" dirty="0">
                <a:solidFill>
                  <a:srgbClr val="E8E0F8"/>
                </a:solidFill>
                <a:latin typeface="Arial" pitchFamily="34" charset="0"/>
                <a:ea typeface="Arial" pitchFamily="34" charset="-122"/>
                <a:cs typeface="Arial" pitchFamily="34" charset="-120"/>
              </a:rPr>
              <a:t>Reasons across text + images in a single inference call. Few-shot extraction, summarization, Q&amp;A. No task-specific retraining required.</a:t>
            </a:r>
            <a:endParaRPr lang="en-US" sz="950" dirty="0"/>
          </a:p>
        </p:txBody>
      </p:sp>
      <p:sp>
        <p:nvSpPr>
          <p:cNvPr id="24" name="Text 18"/>
          <p:cNvSpPr/>
          <p:nvPr/>
        </p:nvSpPr>
        <p:spPr>
          <a:xfrm>
            <a:off x="411480" y="4800600"/>
            <a:ext cx="8321040" cy="237744"/>
          </a:xfrm>
          <a:prstGeom prst="rect">
            <a:avLst/>
          </a:prstGeom>
          <a:noFill/>
          <a:ln/>
        </p:spPr>
        <p:txBody>
          <a:bodyPr wrap="square" lIns="0" tIns="0" rIns="0" bIns="0" rtlCol="0" anchor="ctr"/>
          <a:lstStyle/>
          <a:p>
            <a:pPr marL="0" indent="0" algn="ctr">
              <a:buNone/>
            </a:pPr>
            <a:r>
              <a:rPr lang="en-US" sz="900" i="1" dirty="0">
                <a:solidFill>
                  <a:srgbClr val="6B7280"/>
                </a:solidFill>
                <a:latin typeface="Arial" pitchFamily="34" charset="0"/>
                <a:ea typeface="Arial" pitchFamily="34" charset="-122"/>
                <a:cs typeface="Arial" pitchFamily="34" charset="-120"/>
              </a:rPr>
              <a:t>Healthcare raises the stakes: a single misread negation in a physician note carries direct financial and compliance consequences.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189"/>
    </mc:Choice>
    <mc:Fallback>
      <p:transition spd="slow" advTm="18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28600"/>
            <a:ext cx="8229600" cy="530352"/>
          </a:xfrm>
          <a:prstGeom prst="rect">
            <a:avLst/>
          </a:prstGeom>
          <a:noFill/>
          <a:ln/>
        </p:spPr>
        <p:txBody>
          <a:bodyPr wrap="square" lIns="0" tIns="0" rIns="0" bIns="0" rtlCol="0" anchor="ctr"/>
          <a:lstStyle/>
          <a:p>
            <a:pPr marL="0" indent="0">
              <a:buNone/>
            </a:pPr>
            <a:r>
              <a:rPr lang="en-US" sz="3200" b="1" dirty="0">
                <a:solidFill>
                  <a:srgbClr val="1A0A3C"/>
                </a:solidFill>
                <a:latin typeface="Cambria" pitchFamily="34" charset="0"/>
                <a:ea typeface="Cambria" pitchFamily="34" charset="-122"/>
                <a:cs typeface="Cambria" pitchFamily="34" charset="-120"/>
              </a:rPr>
              <a:t>Relevant Trends</a:t>
            </a:r>
            <a:endParaRPr lang="en-US" sz="3200" dirty="0"/>
          </a:p>
        </p:txBody>
      </p:sp>
      <p:sp>
        <p:nvSpPr>
          <p:cNvPr id="3" name="Shape 1"/>
          <p:cNvSpPr/>
          <p:nvPr/>
        </p:nvSpPr>
        <p:spPr>
          <a:xfrm>
            <a:off x="365760" y="868680"/>
            <a:ext cx="2788920" cy="3931920"/>
          </a:xfrm>
          <a:prstGeom prst="roundRect">
            <a:avLst>
              <a:gd name="adj" fmla="val 4262"/>
            </a:avLst>
          </a:prstGeom>
          <a:solidFill>
            <a:srgbClr val="1A0A3C"/>
          </a:solidFill>
          <a:ln w="12700">
            <a:solidFill>
              <a:srgbClr val="1A0A3C"/>
            </a:solidFill>
            <a:prstDash val="solid"/>
          </a:ln>
          <a:effectLst>
            <a:outerShdw blurRad="127000" dist="25400" dir="2700000" algn="bl" rotWithShape="0">
              <a:srgbClr val="000000">
                <a:alpha val="9000"/>
              </a:srgbClr>
            </a:outerShdw>
          </a:effectLst>
        </p:spPr>
        <p:txBody>
          <a:bodyPr/>
          <a:lstStyle/>
          <a:p>
            <a:endParaRPr lang="en-US"/>
          </a:p>
        </p:txBody>
      </p:sp>
      <p:sp>
        <p:nvSpPr>
          <p:cNvPr id="4" name="Text 2"/>
          <p:cNvSpPr/>
          <p:nvPr/>
        </p:nvSpPr>
        <p:spPr>
          <a:xfrm>
            <a:off x="365760" y="1143000"/>
            <a:ext cx="278892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$5.2B</a:t>
            </a:r>
            <a:endParaRPr lang="en-US" sz="4600" dirty="0"/>
          </a:p>
        </p:txBody>
      </p:sp>
      <p:sp>
        <p:nvSpPr>
          <p:cNvPr id="5" name="Text 3"/>
          <p:cNvSpPr/>
          <p:nvPr/>
        </p:nvSpPr>
        <p:spPr>
          <a:xfrm>
            <a:off x="365760" y="1993392"/>
            <a:ext cx="2788920" cy="320040"/>
          </a:xfrm>
          <a:prstGeom prst="rect">
            <a:avLst/>
          </a:prstGeom>
          <a:noFill/>
          <a:ln/>
        </p:spPr>
        <p:txBody>
          <a:bodyPr wrap="square" lIns="0" tIns="0" rIns="0" bIns="0" rtlCol="0" anchor="ctr"/>
          <a:lstStyle/>
          <a:p>
            <a:pPr marL="0" indent="0" algn="ctr">
              <a:buNone/>
            </a:pPr>
            <a:r>
              <a:rPr lang="en-US" sz="1400" i="1" dirty="0">
                <a:solidFill>
                  <a:srgbClr val="E8E0F8"/>
                </a:solidFill>
                <a:latin typeface="Arial" pitchFamily="34" charset="0"/>
                <a:ea typeface="Arial" pitchFamily="34" charset="-122"/>
                <a:cs typeface="Arial" pitchFamily="34" charset="-120"/>
              </a:rPr>
              <a:t>to</a:t>
            </a:r>
            <a:endParaRPr lang="en-US" sz="1400" dirty="0"/>
          </a:p>
        </p:txBody>
      </p:sp>
      <p:sp>
        <p:nvSpPr>
          <p:cNvPr id="6" name="Text 4"/>
          <p:cNvSpPr/>
          <p:nvPr/>
        </p:nvSpPr>
        <p:spPr>
          <a:xfrm>
            <a:off x="365760" y="2304288"/>
            <a:ext cx="2788920" cy="749808"/>
          </a:xfrm>
          <a:prstGeom prst="rect">
            <a:avLst/>
          </a:prstGeom>
          <a:noFill/>
          <a:ln/>
        </p:spPr>
        <p:txBody>
          <a:bodyPr wrap="square" lIns="0" tIns="0" rIns="0" bIns="0" rtlCol="0" anchor="ctr"/>
          <a:lstStyle/>
          <a:p>
            <a:pPr marL="0" indent="0" algn="ctr">
              <a:buNone/>
            </a:pPr>
            <a:r>
              <a:rPr lang="en-US" sz="3800" b="1" dirty="0">
                <a:solidFill>
                  <a:srgbClr val="E8E0F8"/>
                </a:solidFill>
                <a:latin typeface="Cambria" pitchFamily="34" charset="0"/>
                <a:ea typeface="Cambria" pitchFamily="34" charset="-122"/>
                <a:cs typeface="Cambria" pitchFamily="34" charset="-120"/>
              </a:rPr>
              <a:t>$16.0B</a:t>
            </a:r>
            <a:endParaRPr lang="en-US" sz="3800" dirty="0"/>
          </a:p>
        </p:txBody>
      </p:sp>
      <p:sp>
        <p:nvSpPr>
          <p:cNvPr id="7" name="Shape 5"/>
          <p:cNvSpPr/>
          <p:nvPr/>
        </p:nvSpPr>
        <p:spPr>
          <a:xfrm>
            <a:off x="804672" y="3127248"/>
            <a:ext cx="1920240" cy="384048"/>
          </a:xfrm>
          <a:prstGeom prst="roundRect">
            <a:avLst>
              <a:gd name="adj" fmla="val 30952"/>
            </a:avLst>
          </a:prstGeom>
          <a:solidFill>
            <a:srgbClr val="6B4DB0"/>
          </a:solidFill>
          <a:ln w="12700">
            <a:solidFill>
              <a:srgbClr val="6B4DB0"/>
            </a:solidFill>
            <a:prstDash val="solid"/>
          </a:ln>
        </p:spPr>
        <p:txBody>
          <a:bodyPr/>
          <a:lstStyle/>
          <a:p>
            <a:endParaRPr lang="en-US"/>
          </a:p>
        </p:txBody>
      </p:sp>
      <p:sp>
        <p:nvSpPr>
          <p:cNvPr id="8" name="Text 6"/>
          <p:cNvSpPr/>
          <p:nvPr/>
        </p:nvSpPr>
        <p:spPr>
          <a:xfrm>
            <a:off x="804672" y="3127248"/>
            <a:ext cx="192024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25.3% CAGR  ·  2025–2030</a:t>
            </a:r>
            <a:endParaRPr lang="en-US" sz="1000" dirty="0"/>
          </a:p>
        </p:txBody>
      </p:sp>
      <p:sp>
        <p:nvSpPr>
          <p:cNvPr id="9" name="Text 7"/>
          <p:cNvSpPr/>
          <p:nvPr/>
        </p:nvSpPr>
        <p:spPr>
          <a:xfrm>
            <a:off x="365760" y="3639312"/>
            <a:ext cx="2788920" cy="658368"/>
          </a:xfrm>
          <a:prstGeom prst="rect">
            <a:avLst/>
          </a:prstGeom>
          <a:noFill/>
          <a:ln/>
        </p:spPr>
        <p:txBody>
          <a:bodyPr wrap="square" rtlCol="0" anchor="ctr"/>
          <a:lstStyle/>
          <a:p>
            <a:pPr marL="0" indent="0" algn="ctr">
              <a:buNone/>
            </a:pPr>
            <a:r>
              <a:rPr lang="en-US" sz="850" i="1" dirty="0">
                <a:solidFill>
                  <a:srgbClr val="E8E0F8"/>
                </a:solidFill>
                <a:latin typeface="Arial" pitchFamily="34" charset="0"/>
                <a:ea typeface="Arial" pitchFamily="34" charset="-122"/>
                <a:cs typeface="Arial" pitchFamily="34" charset="-120"/>
              </a:rPr>
              <a:t>NLP in Healthcare &amp; Life Sciences</a:t>
            </a:r>
            <a:endParaRPr lang="en-US" sz="850" dirty="0"/>
          </a:p>
          <a:p>
            <a:pPr marL="0" indent="0" algn="ctr">
              <a:buNone/>
            </a:pPr>
            <a:r>
              <a:rPr lang="en-US" sz="850" i="1" dirty="0">
                <a:solidFill>
                  <a:srgbClr val="E8E0F8"/>
                </a:solidFill>
                <a:latin typeface="Arial" pitchFamily="34" charset="0"/>
                <a:ea typeface="Arial" pitchFamily="34" charset="-122"/>
                <a:cs typeface="Arial" pitchFamily="34" charset="-120"/>
              </a:rPr>
              <a:t>(MarketsandMarkets, 2025)</a:t>
            </a:r>
            <a:endParaRPr lang="en-US" sz="850" dirty="0"/>
          </a:p>
        </p:txBody>
      </p:sp>
      <p:sp>
        <p:nvSpPr>
          <p:cNvPr id="10" name="Shape 8"/>
          <p:cNvSpPr/>
          <p:nvPr/>
        </p:nvSpPr>
        <p:spPr>
          <a:xfrm>
            <a:off x="3364992" y="868680"/>
            <a:ext cx="5486400" cy="1152144"/>
          </a:xfrm>
          <a:prstGeom prst="roundRect">
            <a:avLst>
              <a:gd name="adj" fmla="val 10317"/>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sp>
        <p:nvSpPr>
          <p:cNvPr id="11" name="Shape 9"/>
          <p:cNvSpPr/>
          <p:nvPr/>
        </p:nvSpPr>
        <p:spPr>
          <a:xfrm>
            <a:off x="3520440" y="1088136"/>
            <a:ext cx="694944" cy="694944"/>
          </a:xfrm>
          <a:prstGeom prst="ellipse">
            <a:avLst/>
          </a:prstGeom>
          <a:solidFill>
            <a:srgbClr val="4B2D8F"/>
          </a:solidFill>
          <a:ln w="12700">
            <a:solidFill>
              <a:srgbClr val="4B2D8F"/>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3666744" y="1216152"/>
            <a:ext cx="420624" cy="420624"/>
          </a:xfrm>
          <a:prstGeom prst="rect">
            <a:avLst/>
          </a:prstGeom>
        </p:spPr>
      </p:pic>
      <p:sp>
        <p:nvSpPr>
          <p:cNvPr id="13" name="Text 10"/>
          <p:cNvSpPr/>
          <p:nvPr/>
        </p:nvSpPr>
        <p:spPr>
          <a:xfrm>
            <a:off x="4352544" y="960120"/>
            <a:ext cx="4352544" cy="329184"/>
          </a:xfrm>
          <a:prstGeom prst="rect">
            <a:avLst/>
          </a:prstGeom>
          <a:noFill/>
          <a:ln/>
        </p:spPr>
        <p:txBody>
          <a:bodyPr wrap="square" lIns="0" tIns="0" rIns="0" bIns="0" rtlCol="0" anchor="ctr"/>
          <a:lstStyle/>
          <a:p>
            <a:pPr marL="0" indent="0">
              <a:buNone/>
            </a:pPr>
            <a:r>
              <a:rPr lang="en-US" sz="1250" b="1" dirty="0">
                <a:solidFill>
                  <a:srgbClr val="1A0A3C"/>
                </a:solidFill>
                <a:latin typeface="Arial" pitchFamily="34" charset="0"/>
                <a:ea typeface="Arial" pitchFamily="34" charset="-122"/>
                <a:cs typeface="Arial" pitchFamily="34" charset="-120"/>
              </a:rPr>
              <a:t>Three Generational Shifts</a:t>
            </a:r>
            <a:endParaRPr lang="en-US" sz="1250" dirty="0"/>
          </a:p>
        </p:txBody>
      </p:sp>
      <p:sp>
        <p:nvSpPr>
          <p:cNvPr id="14" name="Text 11"/>
          <p:cNvSpPr/>
          <p:nvPr/>
        </p:nvSpPr>
        <p:spPr>
          <a:xfrm>
            <a:off x="4352544" y="1289304"/>
            <a:ext cx="4352544" cy="658368"/>
          </a:xfrm>
          <a:prstGeom prst="rect">
            <a:avLst/>
          </a:prstGeom>
          <a:noFill/>
          <a:ln/>
        </p:spPr>
        <p:txBody>
          <a:bodyPr wrap="square" rtlCol="0" anchor="ctr"/>
          <a:lstStyle/>
          <a:p>
            <a:pPr marL="0" indent="0">
              <a:buNone/>
            </a:pPr>
            <a:r>
              <a:rPr lang="en-US" sz="950" dirty="0">
                <a:solidFill>
                  <a:srgbClr val="374151"/>
                </a:solidFill>
                <a:latin typeface="Arial" pitchFamily="34" charset="0"/>
                <a:ea typeface="Arial" pitchFamily="34" charset="-122"/>
                <a:cs typeface="Arial" pitchFamily="34" charset="-120"/>
              </a:rPr>
              <a:t>Rule-based (cTAKES, MedLEE)  →  Transformer models (BioBERT, ClinicalBERT)  →  Instruction-tuned LLMs (Med-PaLM 2, BioMistral). Each shift dramatically expanded what AI can do with clinical text.</a:t>
            </a:r>
            <a:endParaRPr lang="en-US" sz="950" dirty="0"/>
          </a:p>
        </p:txBody>
      </p:sp>
      <p:sp>
        <p:nvSpPr>
          <p:cNvPr id="15" name="Shape 12"/>
          <p:cNvSpPr/>
          <p:nvPr/>
        </p:nvSpPr>
        <p:spPr>
          <a:xfrm>
            <a:off x="3364992" y="2167128"/>
            <a:ext cx="5486400" cy="1152144"/>
          </a:xfrm>
          <a:prstGeom prst="roundRect">
            <a:avLst>
              <a:gd name="adj" fmla="val 10317"/>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sp>
        <p:nvSpPr>
          <p:cNvPr id="16" name="Shape 13"/>
          <p:cNvSpPr/>
          <p:nvPr/>
        </p:nvSpPr>
        <p:spPr>
          <a:xfrm>
            <a:off x="3520440" y="2386584"/>
            <a:ext cx="694944" cy="694944"/>
          </a:xfrm>
          <a:prstGeom prst="ellipse">
            <a:avLst/>
          </a:prstGeom>
          <a:solidFill>
            <a:srgbClr val="4B2D8F"/>
          </a:solidFill>
          <a:ln w="12700">
            <a:solidFill>
              <a:srgbClr val="4B2D8F"/>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3666744" y="2514600"/>
            <a:ext cx="420624" cy="420624"/>
          </a:xfrm>
          <a:prstGeom prst="rect">
            <a:avLst/>
          </a:prstGeom>
        </p:spPr>
      </p:pic>
      <p:sp>
        <p:nvSpPr>
          <p:cNvPr id="18" name="Text 14"/>
          <p:cNvSpPr/>
          <p:nvPr/>
        </p:nvSpPr>
        <p:spPr>
          <a:xfrm>
            <a:off x="4352544" y="2258568"/>
            <a:ext cx="4352544" cy="329184"/>
          </a:xfrm>
          <a:prstGeom prst="rect">
            <a:avLst/>
          </a:prstGeom>
          <a:noFill/>
          <a:ln/>
        </p:spPr>
        <p:txBody>
          <a:bodyPr wrap="square" lIns="0" tIns="0" rIns="0" bIns="0" rtlCol="0" anchor="ctr"/>
          <a:lstStyle/>
          <a:p>
            <a:pPr marL="0" indent="0">
              <a:buNone/>
            </a:pPr>
            <a:r>
              <a:rPr lang="en-US" sz="1250" b="1" dirty="0">
                <a:solidFill>
                  <a:srgbClr val="1A0A3C"/>
                </a:solidFill>
                <a:latin typeface="Arial" pitchFamily="34" charset="0"/>
                <a:ea typeface="Arial" pitchFamily="34" charset="-122"/>
                <a:cs typeface="Arial" pitchFamily="34" charset="-120"/>
              </a:rPr>
              <a:t>Ambient Clinical Intelligence</a:t>
            </a:r>
            <a:endParaRPr lang="en-US" sz="1250" dirty="0"/>
          </a:p>
        </p:txBody>
      </p:sp>
      <p:sp>
        <p:nvSpPr>
          <p:cNvPr id="19" name="Text 15"/>
          <p:cNvSpPr/>
          <p:nvPr/>
        </p:nvSpPr>
        <p:spPr>
          <a:xfrm>
            <a:off x="4352544" y="2587752"/>
            <a:ext cx="4352544" cy="658368"/>
          </a:xfrm>
          <a:prstGeom prst="rect">
            <a:avLst/>
          </a:prstGeom>
          <a:noFill/>
          <a:ln/>
        </p:spPr>
        <p:txBody>
          <a:bodyPr wrap="square" rtlCol="0" anchor="ctr"/>
          <a:lstStyle/>
          <a:p>
            <a:pPr marL="0" indent="0">
              <a:buNone/>
            </a:pPr>
            <a:r>
              <a:rPr lang="en-US" sz="950" dirty="0">
                <a:solidFill>
                  <a:srgbClr val="374151"/>
                </a:solidFill>
                <a:latin typeface="Arial" pitchFamily="34" charset="0"/>
                <a:ea typeface="Arial" pitchFamily="34" charset="-122"/>
                <a:cs typeface="Arial" pitchFamily="34" charset="-120"/>
              </a:rPr>
              <a:t>Voice-enabled LLMs generate EHR notes from patient-provider conversations in real time. Microsoft Dragon Copilot (Mar 2025) cut documentation burden by an estimated 40–70%. This is the fastest-growing ACI deployment to date.</a:t>
            </a:r>
            <a:endParaRPr lang="en-US" sz="950" dirty="0"/>
          </a:p>
        </p:txBody>
      </p:sp>
      <p:sp>
        <p:nvSpPr>
          <p:cNvPr id="20" name="Shape 16"/>
          <p:cNvSpPr/>
          <p:nvPr/>
        </p:nvSpPr>
        <p:spPr>
          <a:xfrm>
            <a:off x="3364992" y="3465576"/>
            <a:ext cx="5486400" cy="1152144"/>
          </a:xfrm>
          <a:prstGeom prst="roundRect">
            <a:avLst>
              <a:gd name="adj" fmla="val 10317"/>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sp>
        <p:nvSpPr>
          <p:cNvPr id="21" name="Shape 17"/>
          <p:cNvSpPr/>
          <p:nvPr/>
        </p:nvSpPr>
        <p:spPr>
          <a:xfrm>
            <a:off x="3520440" y="3685032"/>
            <a:ext cx="694944" cy="694944"/>
          </a:xfrm>
          <a:prstGeom prst="ellipse">
            <a:avLst/>
          </a:prstGeom>
          <a:solidFill>
            <a:srgbClr val="4B2D8F"/>
          </a:solidFill>
          <a:ln w="12700">
            <a:solidFill>
              <a:srgbClr val="4B2D8F"/>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3666744" y="3813048"/>
            <a:ext cx="420624" cy="420624"/>
          </a:xfrm>
          <a:prstGeom prst="rect">
            <a:avLst/>
          </a:prstGeom>
        </p:spPr>
      </p:pic>
      <p:sp>
        <p:nvSpPr>
          <p:cNvPr id="23" name="Text 18"/>
          <p:cNvSpPr/>
          <p:nvPr/>
        </p:nvSpPr>
        <p:spPr>
          <a:xfrm>
            <a:off x="4352544" y="3557016"/>
            <a:ext cx="4352544" cy="329184"/>
          </a:xfrm>
          <a:prstGeom prst="rect">
            <a:avLst/>
          </a:prstGeom>
          <a:noFill/>
          <a:ln/>
        </p:spPr>
        <p:txBody>
          <a:bodyPr wrap="square" lIns="0" tIns="0" rIns="0" bIns="0" rtlCol="0" anchor="ctr"/>
          <a:lstStyle/>
          <a:p>
            <a:pPr marL="0" indent="0">
              <a:buNone/>
            </a:pPr>
            <a:r>
              <a:rPr lang="en-US" sz="1250" b="1" dirty="0">
                <a:solidFill>
                  <a:srgbClr val="1A0A3C"/>
                </a:solidFill>
                <a:latin typeface="Arial" pitchFamily="34" charset="0"/>
                <a:ea typeface="Arial" pitchFamily="34" charset="-122"/>
                <a:cs typeface="Arial" pitchFamily="34" charset="-120"/>
              </a:rPr>
              <a:t>NLP in Payment Integrity (Cotiviti's Space)</a:t>
            </a:r>
            <a:endParaRPr lang="en-US" sz="1250" dirty="0"/>
          </a:p>
        </p:txBody>
      </p:sp>
      <p:sp>
        <p:nvSpPr>
          <p:cNvPr id="24" name="Text 19"/>
          <p:cNvSpPr/>
          <p:nvPr/>
        </p:nvSpPr>
        <p:spPr>
          <a:xfrm>
            <a:off x="4352544" y="3886200"/>
            <a:ext cx="4352544" cy="658368"/>
          </a:xfrm>
          <a:prstGeom prst="rect">
            <a:avLst/>
          </a:prstGeom>
          <a:noFill/>
          <a:ln/>
        </p:spPr>
        <p:txBody>
          <a:bodyPr wrap="square" rtlCol="0" anchor="ctr"/>
          <a:lstStyle/>
          <a:p>
            <a:pPr marL="0" indent="0">
              <a:buNone/>
            </a:pPr>
            <a:r>
              <a:rPr lang="en-US" sz="950" dirty="0">
                <a:solidFill>
                  <a:srgbClr val="374151"/>
                </a:solidFill>
                <a:latin typeface="Arial" pitchFamily="34" charset="0"/>
                <a:ea typeface="Arial" pitchFamily="34" charset="-122"/>
                <a:cs typeface="Arial" pitchFamily="34" charset="-120"/>
              </a:rPr>
              <a:t>AI tools now cross-reference encounter data against HCC codes at claim submission. This shows the shift from retrospective audit to prospective accuracy. Cotiviti's Post-Visit Review operationalizes this today at enterprise scale.</a:t>
            </a:r>
            <a:endParaRPr lang="en-US" sz="950" dirty="0"/>
          </a:p>
        </p:txBody>
      </p:sp>
    </p:spTree>
  </p:cSld>
  <p:clrMapOvr>
    <a:masterClrMapping/>
  </p:clrMapOvr>
  <mc:AlternateContent xmlns:mc="http://schemas.openxmlformats.org/markup-compatibility/2006">
    <mc:Choice xmlns:p14="http://schemas.microsoft.com/office/powerpoint/2010/main" Requires="p14">
      <p:transition spd="slow" p14:dur="2000" advTm="241"/>
    </mc:Choice>
    <mc:Fallback>
      <p:transition spd="slow" advTm="24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229600" cy="502920"/>
          </a:xfrm>
          <a:prstGeom prst="rect">
            <a:avLst/>
          </a:prstGeom>
          <a:noFill/>
          <a:ln/>
        </p:spPr>
        <p:txBody>
          <a:bodyPr wrap="square" lIns="0" tIns="0" rIns="0" bIns="0" rtlCol="0" anchor="ctr"/>
          <a:lstStyle/>
          <a:p>
            <a:pPr marL="0" indent="0">
              <a:buNone/>
            </a:pPr>
            <a:r>
              <a:rPr lang="en-US" sz="3200" b="1" dirty="0">
                <a:solidFill>
                  <a:srgbClr val="1A0A3C"/>
                </a:solidFill>
                <a:latin typeface="Cambria" pitchFamily="34" charset="0"/>
                <a:ea typeface="Cambria" pitchFamily="34" charset="-122"/>
                <a:cs typeface="Cambria" pitchFamily="34" charset="-120"/>
              </a:rPr>
              <a:t>Opportunities &amp; Threats</a:t>
            </a:r>
            <a:endParaRPr lang="en-US" sz="3200" dirty="0"/>
          </a:p>
        </p:txBody>
      </p:sp>
      <p:sp>
        <p:nvSpPr>
          <p:cNvPr id="3" name="Shape 1"/>
          <p:cNvSpPr/>
          <p:nvPr/>
        </p:nvSpPr>
        <p:spPr>
          <a:xfrm>
            <a:off x="365760" y="804672"/>
            <a:ext cx="4041648" cy="438912"/>
          </a:xfrm>
          <a:prstGeom prst="roundRect">
            <a:avLst>
              <a:gd name="adj" fmla="val 27083"/>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365760" y="804672"/>
            <a:ext cx="4041648" cy="438912"/>
          </a:xfrm>
          <a:prstGeom prst="rect">
            <a:avLst/>
          </a:prstGeom>
          <a:noFill/>
          <a:ln/>
        </p:spPr>
        <p:txBody>
          <a:bodyPr wrap="square" lIns="0" tIns="0" rIns="0" bIns="0" rtlCol="0" anchor="ctr"/>
          <a:lstStyle/>
          <a:p>
            <a:pPr marL="0" indent="0" algn="ctr">
              <a:buNone/>
            </a:pPr>
            <a:r>
              <a:rPr lang="en-US" sz="1150" b="1" kern="0" spc="200" dirty="0">
                <a:solidFill>
                  <a:srgbClr val="FFFFFF"/>
                </a:solidFill>
                <a:latin typeface="Arial" pitchFamily="34" charset="0"/>
                <a:ea typeface="Arial" pitchFamily="34" charset="-122"/>
                <a:cs typeface="Arial" pitchFamily="34" charset="-120"/>
              </a:rPr>
              <a:t>OPPORTUNITIES</a:t>
            </a:r>
            <a:endParaRPr lang="en-US" sz="1150" dirty="0"/>
          </a:p>
        </p:txBody>
      </p:sp>
      <p:sp>
        <p:nvSpPr>
          <p:cNvPr id="5" name="Shape 3"/>
          <p:cNvSpPr/>
          <p:nvPr/>
        </p:nvSpPr>
        <p:spPr>
          <a:xfrm>
            <a:off x="4736592" y="804672"/>
            <a:ext cx="4041648" cy="438912"/>
          </a:xfrm>
          <a:prstGeom prst="roundRect">
            <a:avLst>
              <a:gd name="adj" fmla="val 27083"/>
            </a:avLst>
          </a:prstGeom>
          <a:solidFill>
            <a:srgbClr val="B45309"/>
          </a:solidFill>
          <a:ln w="12700">
            <a:solidFill>
              <a:srgbClr val="B45309"/>
            </a:solidFill>
            <a:prstDash val="solid"/>
          </a:ln>
        </p:spPr>
        <p:txBody>
          <a:bodyPr/>
          <a:lstStyle/>
          <a:p>
            <a:endParaRPr lang="en-US"/>
          </a:p>
        </p:txBody>
      </p:sp>
      <p:sp>
        <p:nvSpPr>
          <p:cNvPr id="6" name="Text 4"/>
          <p:cNvSpPr/>
          <p:nvPr/>
        </p:nvSpPr>
        <p:spPr>
          <a:xfrm>
            <a:off x="4736592" y="804672"/>
            <a:ext cx="4041648" cy="438912"/>
          </a:xfrm>
          <a:prstGeom prst="rect">
            <a:avLst/>
          </a:prstGeom>
          <a:noFill/>
          <a:ln/>
        </p:spPr>
        <p:txBody>
          <a:bodyPr wrap="square" lIns="0" tIns="0" rIns="0" bIns="0" rtlCol="0" anchor="ctr"/>
          <a:lstStyle/>
          <a:p>
            <a:pPr marL="0" indent="0" algn="ctr">
              <a:buNone/>
            </a:pPr>
            <a:r>
              <a:rPr lang="en-US" sz="1150" b="1" kern="0" spc="200" dirty="0">
                <a:solidFill>
                  <a:srgbClr val="FFFFFF"/>
                </a:solidFill>
                <a:latin typeface="Arial" pitchFamily="34" charset="0"/>
                <a:ea typeface="Arial" pitchFamily="34" charset="-122"/>
                <a:cs typeface="Arial" pitchFamily="34" charset="-120"/>
              </a:rPr>
              <a:t>THREATS</a:t>
            </a:r>
            <a:endParaRPr lang="en-US" sz="1150" dirty="0"/>
          </a:p>
        </p:txBody>
      </p:sp>
      <p:sp>
        <p:nvSpPr>
          <p:cNvPr id="7" name="Shape 5"/>
          <p:cNvSpPr/>
          <p:nvPr/>
        </p:nvSpPr>
        <p:spPr>
          <a:xfrm>
            <a:off x="365760" y="1325880"/>
            <a:ext cx="4041648" cy="822960"/>
          </a:xfrm>
          <a:prstGeom prst="roundRect">
            <a:avLst>
              <a:gd name="adj" fmla="val 14444"/>
            </a:avLst>
          </a:prstGeom>
          <a:solidFill>
            <a:srgbClr val="D1FAF5"/>
          </a:solidFill>
          <a:ln w="12700">
            <a:solidFill>
              <a:srgbClr val="D1FAF5"/>
            </a:solidFill>
            <a:prstDash val="solid"/>
          </a:ln>
          <a:effectLst>
            <a:outerShdw blurRad="127000" dist="25400" dir="2700000" algn="bl" rotWithShape="0">
              <a:srgbClr val="000000">
                <a:alpha val="9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502920" y="1527048"/>
            <a:ext cx="347472" cy="347472"/>
          </a:xfrm>
          <a:prstGeom prst="rect">
            <a:avLst/>
          </a:prstGeom>
        </p:spPr>
      </p:pic>
      <p:sp>
        <p:nvSpPr>
          <p:cNvPr id="9" name="Text 6"/>
          <p:cNvSpPr/>
          <p:nvPr/>
        </p:nvSpPr>
        <p:spPr>
          <a:xfrm>
            <a:off x="950976" y="1399032"/>
            <a:ext cx="3337560" cy="274320"/>
          </a:xfrm>
          <a:prstGeom prst="rect">
            <a:avLst/>
          </a:prstGeom>
          <a:noFill/>
          <a:ln/>
        </p:spPr>
        <p:txBody>
          <a:bodyPr wrap="square" lIns="0" tIns="0" rIns="0" bIns="0" rtlCol="0" anchor="ctr"/>
          <a:lstStyle/>
          <a:p>
            <a:pPr marL="0" indent="0">
              <a:buNone/>
            </a:pPr>
            <a:r>
              <a:rPr lang="en-US" sz="1100" b="1" dirty="0">
                <a:solidFill>
                  <a:srgbClr val="0D9488"/>
                </a:solidFill>
                <a:latin typeface="Arial" pitchFamily="34" charset="0"/>
                <a:ea typeface="Arial" pitchFamily="34" charset="-122"/>
                <a:cs typeface="Arial" pitchFamily="34" charset="-120"/>
              </a:rPr>
              <a:t>Unstructured Data Value</a:t>
            </a:r>
            <a:endParaRPr lang="en-US" sz="1100" dirty="0"/>
          </a:p>
        </p:txBody>
      </p:sp>
      <p:sp>
        <p:nvSpPr>
          <p:cNvPr id="10" name="Text 7"/>
          <p:cNvSpPr/>
          <p:nvPr/>
        </p:nvSpPr>
        <p:spPr>
          <a:xfrm>
            <a:off x="950976" y="1673352"/>
            <a:ext cx="333756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~80% of healthcare data is unstructured. LLMs unlock this for HCC coding, payment accuracy, quality measurement, and population health. These are core use cases.</a:t>
            </a:r>
            <a:endParaRPr lang="en-US" sz="900" dirty="0"/>
          </a:p>
        </p:txBody>
      </p:sp>
      <p:sp>
        <p:nvSpPr>
          <p:cNvPr id="11" name="Shape 8"/>
          <p:cNvSpPr/>
          <p:nvPr/>
        </p:nvSpPr>
        <p:spPr>
          <a:xfrm>
            <a:off x="365760" y="2240280"/>
            <a:ext cx="4041648" cy="822960"/>
          </a:xfrm>
          <a:prstGeom prst="roundRect">
            <a:avLst>
              <a:gd name="adj" fmla="val 14444"/>
            </a:avLst>
          </a:prstGeom>
          <a:solidFill>
            <a:srgbClr val="D1FAF5"/>
          </a:solidFill>
          <a:ln w="12700">
            <a:solidFill>
              <a:srgbClr val="D1FAF5"/>
            </a:solidFill>
            <a:prstDash val="solid"/>
          </a:ln>
          <a:effectLst>
            <a:outerShdw blurRad="127000" dist="25400" dir="2700000" algn="bl" rotWithShape="0">
              <a:srgbClr val="000000">
                <a:alpha val="9000"/>
              </a:srgbClr>
            </a:outerShdw>
          </a:effectLst>
        </p:spPr>
        <p:txBody>
          <a:bodyPr/>
          <a:lstStyle/>
          <a:p>
            <a:endParaRPr lang="en-US"/>
          </a:p>
        </p:txBody>
      </p:sp>
      <p:pic>
        <p:nvPicPr>
          <p:cNvPr id="12" name="Image 1" descr="preencoded.png"/>
          <p:cNvPicPr>
            <a:picLocks noChangeAspect="1"/>
          </p:cNvPicPr>
          <p:nvPr/>
        </p:nvPicPr>
        <p:blipFill>
          <a:blip r:embed="rId3"/>
          <a:stretch>
            <a:fillRect/>
          </a:stretch>
        </p:blipFill>
        <p:spPr>
          <a:xfrm>
            <a:off x="502920" y="2441448"/>
            <a:ext cx="347472" cy="347472"/>
          </a:xfrm>
          <a:prstGeom prst="rect">
            <a:avLst/>
          </a:prstGeom>
        </p:spPr>
      </p:pic>
      <p:sp>
        <p:nvSpPr>
          <p:cNvPr id="13" name="Text 9"/>
          <p:cNvSpPr/>
          <p:nvPr/>
        </p:nvSpPr>
        <p:spPr>
          <a:xfrm>
            <a:off x="950976" y="2313432"/>
            <a:ext cx="3337560" cy="274320"/>
          </a:xfrm>
          <a:prstGeom prst="rect">
            <a:avLst/>
          </a:prstGeom>
          <a:noFill/>
          <a:ln/>
        </p:spPr>
        <p:txBody>
          <a:bodyPr wrap="square" lIns="0" tIns="0" rIns="0" bIns="0" rtlCol="0" anchor="ctr"/>
          <a:lstStyle/>
          <a:p>
            <a:pPr marL="0" indent="0">
              <a:buNone/>
            </a:pPr>
            <a:r>
              <a:rPr lang="en-US" sz="1100" b="1" dirty="0">
                <a:solidFill>
                  <a:srgbClr val="0D9488"/>
                </a:solidFill>
                <a:latin typeface="Arial" pitchFamily="34" charset="0"/>
                <a:ea typeface="Arial" pitchFamily="34" charset="-122"/>
                <a:cs typeface="Arial" pitchFamily="34" charset="-120"/>
              </a:rPr>
              <a:t>Multimodal Reasoning</a:t>
            </a:r>
            <a:endParaRPr lang="en-US" sz="1100" dirty="0"/>
          </a:p>
        </p:txBody>
      </p:sp>
      <p:sp>
        <p:nvSpPr>
          <p:cNvPr id="14" name="Text 10"/>
          <p:cNvSpPr/>
          <p:nvPr/>
        </p:nvSpPr>
        <p:spPr>
          <a:xfrm>
            <a:off x="950976" y="2587752"/>
            <a:ext cx="333756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LMMs jointly process notes, labs, and imaging in one inference call, enabling holistic documentation audits that no prior technology could support.</a:t>
            </a:r>
            <a:endParaRPr lang="en-US" sz="900" dirty="0"/>
          </a:p>
        </p:txBody>
      </p:sp>
      <p:sp>
        <p:nvSpPr>
          <p:cNvPr id="15" name="Shape 11"/>
          <p:cNvSpPr/>
          <p:nvPr/>
        </p:nvSpPr>
        <p:spPr>
          <a:xfrm>
            <a:off x="365760" y="3154680"/>
            <a:ext cx="4041648" cy="822960"/>
          </a:xfrm>
          <a:prstGeom prst="roundRect">
            <a:avLst>
              <a:gd name="adj" fmla="val 14444"/>
            </a:avLst>
          </a:prstGeom>
          <a:solidFill>
            <a:srgbClr val="D1FAF5"/>
          </a:solidFill>
          <a:ln w="12700">
            <a:solidFill>
              <a:srgbClr val="D1FAF5"/>
            </a:solidFill>
            <a:prstDash val="solid"/>
          </a:ln>
          <a:effectLst>
            <a:outerShdw blurRad="127000" dist="25400" dir="2700000" algn="bl" rotWithShape="0">
              <a:srgbClr val="000000">
                <a:alpha val="9000"/>
              </a:srgbClr>
            </a:outerShdw>
          </a:effectLst>
        </p:spPr>
        <p:txBody>
          <a:bodyPr/>
          <a:lstStyle/>
          <a:p>
            <a:endParaRPr lang="en-US"/>
          </a:p>
        </p:txBody>
      </p:sp>
      <p:pic>
        <p:nvPicPr>
          <p:cNvPr id="16" name="Image 2" descr="preencoded.png"/>
          <p:cNvPicPr>
            <a:picLocks noChangeAspect="1"/>
          </p:cNvPicPr>
          <p:nvPr/>
        </p:nvPicPr>
        <p:blipFill>
          <a:blip r:embed="rId3"/>
          <a:stretch>
            <a:fillRect/>
          </a:stretch>
        </p:blipFill>
        <p:spPr>
          <a:xfrm>
            <a:off x="502920" y="3355848"/>
            <a:ext cx="347472" cy="347472"/>
          </a:xfrm>
          <a:prstGeom prst="rect">
            <a:avLst/>
          </a:prstGeom>
        </p:spPr>
      </p:pic>
      <p:sp>
        <p:nvSpPr>
          <p:cNvPr id="17" name="Text 12"/>
          <p:cNvSpPr/>
          <p:nvPr/>
        </p:nvSpPr>
        <p:spPr>
          <a:xfrm>
            <a:off x="950976" y="3227832"/>
            <a:ext cx="3337560" cy="274320"/>
          </a:xfrm>
          <a:prstGeom prst="rect">
            <a:avLst/>
          </a:prstGeom>
          <a:noFill/>
          <a:ln/>
        </p:spPr>
        <p:txBody>
          <a:bodyPr wrap="square" lIns="0" tIns="0" rIns="0" bIns="0" rtlCol="0" anchor="ctr"/>
          <a:lstStyle/>
          <a:p>
            <a:pPr marL="0" indent="0">
              <a:buNone/>
            </a:pPr>
            <a:r>
              <a:rPr lang="en-US" sz="1100" b="1" dirty="0">
                <a:solidFill>
                  <a:srgbClr val="0D9488"/>
                </a:solidFill>
                <a:latin typeface="Arial" pitchFamily="34" charset="0"/>
                <a:ea typeface="Arial" pitchFamily="34" charset="-122"/>
                <a:cs typeface="Arial" pitchFamily="34" charset="-120"/>
              </a:rPr>
              <a:t>Real-Time Coding Accuracy</a:t>
            </a:r>
            <a:endParaRPr lang="en-US" sz="1100" dirty="0"/>
          </a:p>
        </p:txBody>
      </p:sp>
      <p:sp>
        <p:nvSpPr>
          <p:cNvPr id="18" name="Text 13"/>
          <p:cNvSpPr/>
          <p:nvPr/>
        </p:nvSpPr>
        <p:spPr>
          <a:xfrm>
            <a:off x="950976" y="3502152"/>
            <a:ext cx="333756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NLP-assisted HCC and CPT validation at claim volume far exceeds manual audit team consistency, directly improving payer financial performance.</a:t>
            </a:r>
            <a:endParaRPr lang="en-US" sz="900" dirty="0"/>
          </a:p>
        </p:txBody>
      </p:sp>
      <p:sp>
        <p:nvSpPr>
          <p:cNvPr id="19" name="Shape 14"/>
          <p:cNvSpPr/>
          <p:nvPr/>
        </p:nvSpPr>
        <p:spPr>
          <a:xfrm>
            <a:off x="365760" y="4069080"/>
            <a:ext cx="4041648" cy="822960"/>
          </a:xfrm>
          <a:prstGeom prst="roundRect">
            <a:avLst>
              <a:gd name="adj" fmla="val 14444"/>
            </a:avLst>
          </a:prstGeom>
          <a:solidFill>
            <a:srgbClr val="D1FAF5"/>
          </a:solidFill>
          <a:ln w="12700">
            <a:solidFill>
              <a:srgbClr val="D1FAF5"/>
            </a:solidFill>
            <a:prstDash val="solid"/>
          </a:ln>
          <a:effectLst>
            <a:outerShdw blurRad="127000" dist="25400" dir="2700000" algn="bl" rotWithShape="0">
              <a:srgbClr val="000000">
                <a:alpha val="9000"/>
              </a:srgbClr>
            </a:outerShdw>
          </a:effectLst>
        </p:spPr>
        <p:txBody>
          <a:bodyPr/>
          <a:lstStyle/>
          <a:p>
            <a:endParaRPr lang="en-US"/>
          </a:p>
        </p:txBody>
      </p:sp>
      <p:pic>
        <p:nvPicPr>
          <p:cNvPr id="20" name="Image 3" descr="preencoded.png"/>
          <p:cNvPicPr>
            <a:picLocks noChangeAspect="1"/>
          </p:cNvPicPr>
          <p:nvPr/>
        </p:nvPicPr>
        <p:blipFill>
          <a:blip r:embed="rId3"/>
          <a:stretch>
            <a:fillRect/>
          </a:stretch>
        </p:blipFill>
        <p:spPr>
          <a:xfrm>
            <a:off x="502920" y="4270248"/>
            <a:ext cx="347472" cy="347472"/>
          </a:xfrm>
          <a:prstGeom prst="rect">
            <a:avLst/>
          </a:prstGeom>
        </p:spPr>
      </p:pic>
      <p:sp>
        <p:nvSpPr>
          <p:cNvPr id="21" name="Text 15"/>
          <p:cNvSpPr/>
          <p:nvPr/>
        </p:nvSpPr>
        <p:spPr>
          <a:xfrm>
            <a:off x="950976" y="4142232"/>
            <a:ext cx="3337560" cy="274320"/>
          </a:xfrm>
          <a:prstGeom prst="rect">
            <a:avLst/>
          </a:prstGeom>
          <a:noFill/>
          <a:ln/>
        </p:spPr>
        <p:txBody>
          <a:bodyPr wrap="square" lIns="0" tIns="0" rIns="0" bIns="0" rtlCol="0" anchor="ctr"/>
          <a:lstStyle/>
          <a:p>
            <a:pPr marL="0" indent="0">
              <a:buNone/>
            </a:pPr>
            <a:r>
              <a:rPr lang="en-US" sz="1100" b="1" dirty="0">
                <a:solidFill>
                  <a:srgbClr val="0D9488"/>
                </a:solidFill>
                <a:latin typeface="Arial" pitchFamily="34" charset="0"/>
                <a:ea typeface="Arial" pitchFamily="34" charset="-122"/>
                <a:cs typeface="Arial" pitchFamily="34" charset="-120"/>
              </a:rPr>
              <a:t>Interoperability via FHIR</a:t>
            </a:r>
            <a:endParaRPr lang="en-US" sz="1100" dirty="0"/>
          </a:p>
        </p:txBody>
      </p:sp>
      <p:sp>
        <p:nvSpPr>
          <p:cNvPr id="22" name="Text 16"/>
          <p:cNvSpPr/>
          <p:nvPr/>
        </p:nvSpPr>
        <p:spPr>
          <a:xfrm>
            <a:off x="950976" y="4416552"/>
            <a:ext cx="333756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FHIR-native NLP pipelines harmonize fragmented EHR systems. This is a capability Cotiviti significantly expanded through its 2025 Edifecs acquisition.</a:t>
            </a:r>
            <a:endParaRPr lang="en-US" sz="900" dirty="0"/>
          </a:p>
        </p:txBody>
      </p:sp>
      <p:sp>
        <p:nvSpPr>
          <p:cNvPr id="23" name="Shape 17"/>
          <p:cNvSpPr/>
          <p:nvPr/>
        </p:nvSpPr>
        <p:spPr>
          <a:xfrm>
            <a:off x="4736592" y="1325880"/>
            <a:ext cx="4041648" cy="822960"/>
          </a:xfrm>
          <a:prstGeom prst="roundRect">
            <a:avLst>
              <a:gd name="adj" fmla="val 14444"/>
            </a:avLst>
          </a:prstGeom>
          <a:solidFill>
            <a:srgbClr val="FEF3C7"/>
          </a:solidFill>
          <a:ln w="12700">
            <a:solidFill>
              <a:srgbClr val="FEF3C7"/>
            </a:solidFill>
            <a:prstDash val="solid"/>
          </a:ln>
          <a:effectLst>
            <a:outerShdw blurRad="127000" dist="25400" dir="2700000" algn="bl" rotWithShape="0">
              <a:srgbClr val="000000">
                <a:alpha val="9000"/>
              </a:srgbClr>
            </a:outerShdw>
          </a:effectLst>
        </p:spPr>
        <p:txBody>
          <a:bodyPr/>
          <a:lstStyle/>
          <a:p>
            <a:endParaRPr lang="en-US"/>
          </a:p>
        </p:txBody>
      </p:sp>
      <p:pic>
        <p:nvPicPr>
          <p:cNvPr id="24" name="Image 4" descr="preencoded.png"/>
          <p:cNvPicPr>
            <a:picLocks noChangeAspect="1"/>
          </p:cNvPicPr>
          <p:nvPr/>
        </p:nvPicPr>
        <p:blipFill>
          <a:blip r:embed="rId4"/>
          <a:stretch>
            <a:fillRect/>
          </a:stretch>
        </p:blipFill>
        <p:spPr>
          <a:xfrm>
            <a:off x="4873752" y="1527048"/>
            <a:ext cx="347472" cy="347472"/>
          </a:xfrm>
          <a:prstGeom prst="rect">
            <a:avLst/>
          </a:prstGeom>
        </p:spPr>
      </p:pic>
      <p:sp>
        <p:nvSpPr>
          <p:cNvPr id="25" name="Text 18"/>
          <p:cNvSpPr/>
          <p:nvPr/>
        </p:nvSpPr>
        <p:spPr>
          <a:xfrm>
            <a:off x="5321808" y="1399032"/>
            <a:ext cx="3337560" cy="274320"/>
          </a:xfrm>
          <a:prstGeom prst="rect">
            <a:avLst/>
          </a:prstGeom>
          <a:noFill/>
          <a:ln/>
        </p:spPr>
        <p:txBody>
          <a:bodyPr wrap="square" lIns="0" tIns="0" rIns="0" bIns="0" rtlCol="0" anchor="ctr"/>
          <a:lstStyle/>
          <a:p>
            <a:pPr marL="0" indent="0">
              <a:buNone/>
            </a:pPr>
            <a:r>
              <a:rPr lang="en-US" sz="1100" b="1" dirty="0">
                <a:solidFill>
                  <a:srgbClr val="B45309"/>
                </a:solidFill>
                <a:latin typeface="Arial" pitchFamily="34" charset="0"/>
                <a:ea typeface="Arial" pitchFamily="34" charset="-122"/>
                <a:cs typeface="Arial" pitchFamily="34" charset="-120"/>
              </a:rPr>
              <a:t>Hallucination &amp; Liability</a:t>
            </a:r>
            <a:endParaRPr lang="en-US" sz="1100" dirty="0"/>
          </a:p>
        </p:txBody>
      </p:sp>
      <p:sp>
        <p:nvSpPr>
          <p:cNvPr id="26" name="Text 19"/>
          <p:cNvSpPr/>
          <p:nvPr/>
        </p:nvSpPr>
        <p:spPr>
          <a:xfrm>
            <a:off x="5321808" y="1673352"/>
            <a:ext cx="333756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LLMs produce confident but factually incorrect output. In payment integrity, a fabricated audit finding carries real legal and financial consequences.</a:t>
            </a:r>
            <a:endParaRPr lang="en-US" sz="900" dirty="0"/>
          </a:p>
        </p:txBody>
      </p:sp>
      <p:sp>
        <p:nvSpPr>
          <p:cNvPr id="27" name="Shape 20"/>
          <p:cNvSpPr/>
          <p:nvPr/>
        </p:nvSpPr>
        <p:spPr>
          <a:xfrm>
            <a:off x="4736592" y="2240280"/>
            <a:ext cx="4041648" cy="822960"/>
          </a:xfrm>
          <a:prstGeom prst="roundRect">
            <a:avLst>
              <a:gd name="adj" fmla="val 14444"/>
            </a:avLst>
          </a:prstGeom>
          <a:solidFill>
            <a:srgbClr val="FEF3C7"/>
          </a:solidFill>
          <a:ln w="12700">
            <a:solidFill>
              <a:srgbClr val="FEF3C7"/>
            </a:solidFill>
            <a:prstDash val="solid"/>
          </a:ln>
          <a:effectLst>
            <a:outerShdw blurRad="127000" dist="25400" dir="2700000" algn="bl" rotWithShape="0">
              <a:srgbClr val="000000">
                <a:alpha val="9000"/>
              </a:srgbClr>
            </a:outerShdw>
          </a:effectLst>
        </p:spPr>
        <p:txBody>
          <a:bodyPr/>
          <a:lstStyle/>
          <a:p>
            <a:endParaRPr lang="en-US"/>
          </a:p>
        </p:txBody>
      </p:sp>
      <p:pic>
        <p:nvPicPr>
          <p:cNvPr id="28" name="Image 5" descr="preencoded.png"/>
          <p:cNvPicPr>
            <a:picLocks noChangeAspect="1"/>
          </p:cNvPicPr>
          <p:nvPr/>
        </p:nvPicPr>
        <p:blipFill>
          <a:blip r:embed="rId4"/>
          <a:stretch>
            <a:fillRect/>
          </a:stretch>
        </p:blipFill>
        <p:spPr>
          <a:xfrm>
            <a:off x="4873752" y="2441448"/>
            <a:ext cx="347472" cy="347472"/>
          </a:xfrm>
          <a:prstGeom prst="rect">
            <a:avLst/>
          </a:prstGeom>
        </p:spPr>
      </p:pic>
      <p:sp>
        <p:nvSpPr>
          <p:cNvPr id="29" name="Text 21"/>
          <p:cNvSpPr/>
          <p:nvPr/>
        </p:nvSpPr>
        <p:spPr>
          <a:xfrm>
            <a:off x="5321808" y="2313432"/>
            <a:ext cx="3337560" cy="274320"/>
          </a:xfrm>
          <a:prstGeom prst="rect">
            <a:avLst/>
          </a:prstGeom>
          <a:noFill/>
          <a:ln/>
        </p:spPr>
        <p:txBody>
          <a:bodyPr wrap="square" lIns="0" tIns="0" rIns="0" bIns="0" rtlCol="0" anchor="ctr"/>
          <a:lstStyle/>
          <a:p>
            <a:pPr marL="0" indent="0">
              <a:buNone/>
            </a:pPr>
            <a:r>
              <a:rPr lang="en-US" sz="1100" b="1" dirty="0">
                <a:solidFill>
                  <a:srgbClr val="B45309"/>
                </a:solidFill>
                <a:latin typeface="Arial" pitchFamily="34" charset="0"/>
                <a:ea typeface="Arial" pitchFamily="34" charset="-122"/>
                <a:cs typeface="Arial" pitchFamily="34" charset="-120"/>
              </a:rPr>
              <a:t>HIPAA &amp; PHI Compliance</a:t>
            </a:r>
            <a:endParaRPr lang="en-US" sz="1100" dirty="0"/>
          </a:p>
        </p:txBody>
      </p:sp>
      <p:sp>
        <p:nvSpPr>
          <p:cNvPr id="30" name="Text 22"/>
          <p:cNvSpPr/>
          <p:nvPr/>
        </p:nvSpPr>
        <p:spPr>
          <a:xfrm>
            <a:off x="5321808" y="2587752"/>
            <a:ext cx="333756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Routing PHI through cloud-hosted LLMs introduces significant regulatory risk, often requiring costly on-premise or private-cloud deployments.</a:t>
            </a:r>
            <a:endParaRPr lang="en-US" sz="900" dirty="0"/>
          </a:p>
        </p:txBody>
      </p:sp>
      <p:sp>
        <p:nvSpPr>
          <p:cNvPr id="31" name="Shape 23"/>
          <p:cNvSpPr/>
          <p:nvPr/>
        </p:nvSpPr>
        <p:spPr>
          <a:xfrm>
            <a:off x="4736592" y="3154680"/>
            <a:ext cx="4041648" cy="822960"/>
          </a:xfrm>
          <a:prstGeom prst="roundRect">
            <a:avLst>
              <a:gd name="adj" fmla="val 14444"/>
            </a:avLst>
          </a:prstGeom>
          <a:solidFill>
            <a:srgbClr val="FEF3C7"/>
          </a:solidFill>
          <a:ln w="12700">
            <a:solidFill>
              <a:srgbClr val="FEF3C7"/>
            </a:solidFill>
            <a:prstDash val="solid"/>
          </a:ln>
          <a:effectLst>
            <a:outerShdw blurRad="127000" dist="25400" dir="2700000" algn="bl" rotWithShape="0">
              <a:srgbClr val="000000">
                <a:alpha val="9000"/>
              </a:srgbClr>
            </a:outerShdw>
          </a:effectLst>
        </p:spPr>
        <p:txBody>
          <a:bodyPr/>
          <a:lstStyle/>
          <a:p>
            <a:endParaRPr lang="en-US"/>
          </a:p>
        </p:txBody>
      </p:sp>
      <p:pic>
        <p:nvPicPr>
          <p:cNvPr id="32" name="Image 6" descr="preencoded.png"/>
          <p:cNvPicPr>
            <a:picLocks noChangeAspect="1"/>
          </p:cNvPicPr>
          <p:nvPr/>
        </p:nvPicPr>
        <p:blipFill>
          <a:blip r:embed="rId4"/>
          <a:stretch>
            <a:fillRect/>
          </a:stretch>
        </p:blipFill>
        <p:spPr>
          <a:xfrm>
            <a:off x="4873752" y="3355848"/>
            <a:ext cx="347472" cy="347472"/>
          </a:xfrm>
          <a:prstGeom prst="rect">
            <a:avLst/>
          </a:prstGeom>
        </p:spPr>
      </p:pic>
      <p:sp>
        <p:nvSpPr>
          <p:cNvPr id="33" name="Text 24"/>
          <p:cNvSpPr/>
          <p:nvPr/>
        </p:nvSpPr>
        <p:spPr>
          <a:xfrm>
            <a:off x="5321808" y="3227832"/>
            <a:ext cx="3337560" cy="274320"/>
          </a:xfrm>
          <a:prstGeom prst="rect">
            <a:avLst/>
          </a:prstGeom>
          <a:noFill/>
          <a:ln/>
        </p:spPr>
        <p:txBody>
          <a:bodyPr wrap="square" lIns="0" tIns="0" rIns="0" bIns="0" rtlCol="0" anchor="ctr"/>
          <a:lstStyle/>
          <a:p>
            <a:pPr marL="0" indent="0">
              <a:buNone/>
            </a:pPr>
            <a:r>
              <a:rPr lang="en-US" sz="1100" b="1" dirty="0">
                <a:solidFill>
                  <a:srgbClr val="B45309"/>
                </a:solidFill>
                <a:latin typeface="Arial" pitchFamily="34" charset="0"/>
                <a:ea typeface="Arial" pitchFamily="34" charset="-122"/>
                <a:cs typeface="Arial" pitchFamily="34" charset="-120"/>
              </a:rPr>
              <a:t>Model Bias</a:t>
            </a:r>
            <a:endParaRPr lang="en-US" sz="1100" dirty="0"/>
          </a:p>
        </p:txBody>
      </p:sp>
      <p:sp>
        <p:nvSpPr>
          <p:cNvPr id="34" name="Text 25"/>
          <p:cNvSpPr/>
          <p:nvPr/>
        </p:nvSpPr>
        <p:spPr>
          <a:xfrm>
            <a:off x="5321808" y="3502152"/>
            <a:ext cx="333756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Models trained on academic center data underperform on rural or underserved populations, introducing systematic errors in risk scores and quality measures.</a:t>
            </a:r>
            <a:endParaRPr lang="en-US" sz="900" dirty="0"/>
          </a:p>
        </p:txBody>
      </p:sp>
      <p:sp>
        <p:nvSpPr>
          <p:cNvPr id="35" name="Shape 26"/>
          <p:cNvSpPr/>
          <p:nvPr/>
        </p:nvSpPr>
        <p:spPr>
          <a:xfrm>
            <a:off x="4736592" y="4069080"/>
            <a:ext cx="4041648" cy="822960"/>
          </a:xfrm>
          <a:prstGeom prst="roundRect">
            <a:avLst>
              <a:gd name="adj" fmla="val 14444"/>
            </a:avLst>
          </a:prstGeom>
          <a:solidFill>
            <a:srgbClr val="FEF3C7"/>
          </a:solidFill>
          <a:ln w="12700">
            <a:solidFill>
              <a:srgbClr val="FEF3C7"/>
            </a:solidFill>
            <a:prstDash val="solid"/>
          </a:ln>
          <a:effectLst>
            <a:outerShdw blurRad="127000" dist="25400" dir="2700000" algn="bl" rotWithShape="0">
              <a:srgbClr val="000000">
                <a:alpha val="9000"/>
              </a:srgbClr>
            </a:outerShdw>
          </a:effectLst>
        </p:spPr>
        <p:txBody>
          <a:bodyPr/>
          <a:lstStyle/>
          <a:p>
            <a:endParaRPr lang="en-US"/>
          </a:p>
        </p:txBody>
      </p:sp>
      <p:pic>
        <p:nvPicPr>
          <p:cNvPr id="36" name="Image 7" descr="preencoded.png"/>
          <p:cNvPicPr>
            <a:picLocks noChangeAspect="1"/>
          </p:cNvPicPr>
          <p:nvPr/>
        </p:nvPicPr>
        <p:blipFill>
          <a:blip r:embed="rId4"/>
          <a:stretch>
            <a:fillRect/>
          </a:stretch>
        </p:blipFill>
        <p:spPr>
          <a:xfrm>
            <a:off x="4873752" y="4270248"/>
            <a:ext cx="347472" cy="347472"/>
          </a:xfrm>
          <a:prstGeom prst="rect">
            <a:avLst/>
          </a:prstGeom>
        </p:spPr>
      </p:pic>
      <p:sp>
        <p:nvSpPr>
          <p:cNvPr id="37" name="Text 27"/>
          <p:cNvSpPr/>
          <p:nvPr/>
        </p:nvSpPr>
        <p:spPr>
          <a:xfrm>
            <a:off x="5321808" y="4142232"/>
            <a:ext cx="3337560" cy="274320"/>
          </a:xfrm>
          <a:prstGeom prst="rect">
            <a:avLst/>
          </a:prstGeom>
          <a:noFill/>
          <a:ln/>
        </p:spPr>
        <p:txBody>
          <a:bodyPr wrap="square" lIns="0" tIns="0" rIns="0" bIns="0" rtlCol="0" anchor="ctr"/>
          <a:lstStyle/>
          <a:p>
            <a:pPr marL="0" indent="0">
              <a:buNone/>
            </a:pPr>
            <a:r>
              <a:rPr lang="en-US" sz="1100" b="1" dirty="0">
                <a:solidFill>
                  <a:srgbClr val="B45309"/>
                </a:solidFill>
                <a:latin typeface="Arial" pitchFamily="34" charset="0"/>
                <a:ea typeface="Arial" pitchFamily="34" charset="-122"/>
                <a:cs typeface="Arial" pitchFamily="34" charset="-120"/>
              </a:rPr>
              <a:t>Regulatory Uncertainty</a:t>
            </a:r>
            <a:endParaRPr lang="en-US" sz="1100" dirty="0"/>
          </a:p>
        </p:txBody>
      </p:sp>
      <p:sp>
        <p:nvSpPr>
          <p:cNvPr id="38" name="Text 28"/>
          <p:cNvSpPr/>
          <p:nvPr/>
        </p:nvSpPr>
        <p:spPr>
          <a:xfrm>
            <a:off x="5321808" y="4416552"/>
            <a:ext cx="333756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FDA and CMS frameworks for AI-assisted clinical coding tools are still evolving.</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638"/>
    </mc:Choice>
    <mc:Fallback>
      <p:transition spd="slow" advTm="63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A3C"/>
        </a:solidFill>
        <a:effectLst/>
      </p:bgPr>
    </p:bg>
    <p:spTree>
      <p:nvGrpSpPr>
        <p:cNvPr id="1" name=""/>
        <p:cNvGrpSpPr/>
        <p:nvPr/>
      </p:nvGrpSpPr>
      <p:grpSpPr>
        <a:xfrm>
          <a:off x="0" y="0"/>
          <a:ext cx="0" cy="0"/>
          <a:chOff x="0" y="0"/>
          <a:chExt cx="0" cy="0"/>
        </a:xfrm>
      </p:grpSpPr>
      <p:sp>
        <p:nvSpPr>
          <p:cNvPr id="2" name="Shape 0"/>
          <p:cNvSpPr/>
          <p:nvPr/>
        </p:nvSpPr>
        <p:spPr>
          <a:xfrm>
            <a:off x="6858000" y="2926080"/>
            <a:ext cx="3657600" cy="3657600"/>
          </a:xfrm>
          <a:prstGeom prst="ellipse">
            <a:avLst/>
          </a:prstGeom>
          <a:solidFill>
            <a:srgbClr val="2D1A5C">
              <a:alpha val="45000"/>
            </a:srgbClr>
          </a:solidFill>
          <a:ln w="12700">
            <a:solidFill>
              <a:srgbClr val="2D1A5C">
                <a:alpha val="45000"/>
              </a:srgbClr>
            </a:solidFill>
            <a:prstDash val="solid"/>
          </a:ln>
        </p:spPr>
        <p:txBody>
          <a:bodyPr/>
          <a:lstStyle/>
          <a:p>
            <a:endParaRPr lang="en-US"/>
          </a:p>
        </p:txBody>
      </p:sp>
      <p:sp>
        <p:nvSpPr>
          <p:cNvPr id="3" name="Text 1"/>
          <p:cNvSpPr/>
          <p:nvPr/>
        </p:nvSpPr>
        <p:spPr>
          <a:xfrm>
            <a:off x="457200" y="201168"/>
            <a:ext cx="8229600" cy="530352"/>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Strategic Recommendations for Cotiviti</a:t>
            </a:r>
            <a:endParaRPr lang="en-US" sz="28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marL="0" indent="0">
              <a:buNone/>
            </a:pPr>
            <a:r>
              <a:rPr lang="en-US" sz="1150" i="1" dirty="0">
                <a:solidFill>
                  <a:srgbClr val="E8E0F8"/>
                </a:solidFill>
                <a:latin typeface="Arial" pitchFamily="34" charset="0"/>
                <a:ea typeface="Arial" pitchFamily="34" charset="-122"/>
                <a:cs typeface="Arial" pitchFamily="34" charset="-120"/>
              </a:rPr>
              <a:t>Two investments extending Cotiviti's existing advantage:</a:t>
            </a:r>
            <a:endParaRPr lang="en-US" sz="1150" dirty="0"/>
          </a:p>
        </p:txBody>
      </p:sp>
      <p:sp>
        <p:nvSpPr>
          <p:cNvPr id="5" name="Shape 3"/>
          <p:cNvSpPr/>
          <p:nvPr/>
        </p:nvSpPr>
        <p:spPr>
          <a:xfrm>
            <a:off x="457200" y="1170432"/>
            <a:ext cx="8229600" cy="1810512"/>
          </a:xfrm>
          <a:prstGeom prst="roundRect">
            <a:avLst>
              <a:gd name="adj" fmla="val 6566"/>
            </a:avLst>
          </a:prstGeom>
          <a:solidFill>
            <a:srgbClr val="2D1A5C"/>
          </a:solidFill>
          <a:ln w="12700">
            <a:solidFill>
              <a:srgbClr val="2D1A5C"/>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621792" y="1335024"/>
            <a:ext cx="841248" cy="841248"/>
          </a:xfrm>
          <a:prstGeom prst="ellipse">
            <a:avLst/>
          </a:prstGeom>
          <a:solidFill>
            <a:srgbClr val="6B4DB0"/>
          </a:solidFill>
          <a:ln w="12700">
            <a:solidFill>
              <a:srgbClr val="6B4DB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68096" y="1481328"/>
            <a:ext cx="548640" cy="548640"/>
          </a:xfrm>
          <a:prstGeom prst="rect">
            <a:avLst/>
          </a:prstGeom>
        </p:spPr>
      </p:pic>
      <p:sp>
        <p:nvSpPr>
          <p:cNvPr id="8" name="Text 5"/>
          <p:cNvSpPr/>
          <p:nvPr/>
        </p:nvSpPr>
        <p:spPr>
          <a:xfrm>
            <a:off x="1609344" y="1243584"/>
            <a:ext cx="6903720" cy="402336"/>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01  |  Fine-Tuned Clinical LLM for Prospective Documentation Gap Detection</a:t>
            </a:r>
            <a:endParaRPr lang="en-US" sz="1450" dirty="0"/>
          </a:p>
        </p:txBody>
      </p:sp>
      <p:sp>
        <p:nvSpPr>
          <p:cNvPr id="9" name="Text 6"/>
          <p:cNvSpPr/>
          <p:nvPr/>
        </p:nvSpPr>
        <p:spPr>
          <a:xfrm>
            <a:off x="1609344" y="1664208"/>
            <a:ext cx="6903720" cy="1207008"/>
          </a:xfrm>
          <a:prstGeom prst="rect">
            <a:avLst/>
          </a:prstGeom>
          <a:noFill/>
          <a:ln/>
        </p:spPr>
        <p:txBody>
          <a:bodyPr wrap="square" rtlCol="0" anchor="ctr"/>
          <a:lstStyle/>
          <a:p>
            <a:pPr marL="0" indent="0">
              <a:buNone/>
            </a:pPr>
            <a:r>
              <a:rPr lang="en-US" sz="1050" dirty="0">
                <a:solidFill>
                  <a:srgbClr val="E8E0F8"/>
                </a:solidFill>
                <a:latin typeface="Arial" pitchFamily="34" charset="0"/>
                <a:ea typeface="Arial" pitchFamily="34" charset="-122"/>
                <a:cs typeface="Arial" pitchFamily="34" charset="-120"/>
              </a:rPr>
              <a:t>Fine-tune a domain-specific LLM on Cotiviti's proprietary corpus of encounter data, HCC coding outcomes, and audit decisions. This model identifies documentation gaps at claim submission, shifting the value proposition from retrospective audit to prospective accuracy. The Edifecs FHIR pipeline provides the data infrastructure. No competitor without Cotiviti's data depth could replicate this product.</a:t>
            </a:r>
            <a:endParaRPr lang="en-US" sz="1050" dirty="0"/>
          </a:p>
        </p:txBody>
      </p:sp>
      <p:sp>
        <p:nvSpPr>
          <p:cNvPr id="10" name="Shape 7"/>
          <p:cNvSpPr/>
          <p:nvPr/>
        </p:nvSpPr>
        <p:spPr>
          <a:xfrm>
            <a:off x="457200" y="3090672"/>
            <a:ext cx="8229600" cy="1810512"/>
          </a:xfrm>
          <a:prstGeom prst="roundRect">
            <a:avLst>
              <a:gd name="adj" fmla="val 6566"/>
            </a:avLst>
          </a:prstGeom>
          <a:solidFill>
            <a:srgbClr val="2D1A5C"/>
          </a:solidFill>
          <a:ln w="12700">
            <a:solidFill>
              <a:srgbClr val="2D1A5C"/>
            </a:solidFill>
            <a:prstDash val="solid"/>
          </a:ln>
          <a:effectLst>
            <a:outerShdw blurRad="127000" dist="25400" dir="2700000" algn="bl" rotWithShape="0">
              <a:srgbClr val="000000">
                <a:alpha val="9000"/>
              </a:srgbClr>
            </a:outerShdw>
          </a:effectLst>
        </p:spPr>
        <p:txBody>
          <a:bodyPr/>
          <a:lstStyle/>
          <a:p>
            <a:endParaRPr lang="en-US"/>
          </a:p>
        </p:txBody>
      </p:sp>
      <p:sp>
        <p:nvSpPr>
          <p:cNvPr id="11" name="Shape 8"/>
          <p:cNvSpPr/>
          <p:nvPr/>
        </p:nvSpPr>
        <p:spPr>
          <a:xfrm>
            <a:off x="621792" y="3255264"/>
            <a:ext cx="841248" cy="841248"/>
          </a:xfrm>
          <a:prstGeom prst="ellipse">
            <a:avLst/>
          </a:prstGeom>
          <a:solidFill>
            <a:srgbClr val="6B4DB0"/>
          </a:solidFill>
          <a:ln w="12700">
            <a:solidFill>
              <a:srgbClr val="6B4DB0"/>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68096" y="3401568"/>
            <a:ext cx="548640" cy="548640"/>
          </a:xfrm>
          <a:prstGeom prst="rect">
            <a:avLst/>
          </a:prstGeom>
        </p:spPr>
      </p:pic>
      <p:sp>
        <p:nvSpPr>
          <p:cNvPr id="13" name="Text 9"/>
          <p:cNvSpPr/>
          <p:nvPr/>
        </p:nvSpPr>
        <p:spPr>
          <a:xfrm>
            <a:off x="1609344" y="3163824"/>
            <a:ext cx="6903720" cy="402336"/>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02  |  Responsible AI Framework as a Market Differentiator</a:t>
            </a:r>
            <a:endParaRPr lang="en-US" sz="1450" dirty="0"/>
          </a:p>
        </p:txBody>
      </p:sp>
      <p:sp>
        <p:nvSpPr>
          <p:cNvPr id="14" name="Text 10"/>
          <p:cNvSpPr/>
          <p:nvPr/>
        </p:nvSpPr>
        <p:spPr>
          <a:xfrm>
            <a:off x="1609344" y="3584448"/>
            <a:ext cx="6903720" cy="1207008"/>
          </a:xfrm>
          <a:prstGeom prst="rect">
            <a:avLst/>
          </a:prstGeom>
          <a:noFill/>
          <a:ln/>
        </p:spPr>
        <p:txBody>
          <a:bodyPr wrap="square" rtlCol="0" anchor="ctr"/>
          <a:lstStyle/>
          <a:p>
            <a:pPr marL="0" indent="0">
              <a:buNone/>
            </a:pPr>
            <a:r>
              <a:rPr lang="en-US" sz="1050" dirty="0">
                <a:solidFill>
                  <a:srgbClr val="E8E0F8"/>
                </a:solidFill>
                <a:latin typeface="Arial" pitchFamily="34" charset="0"/>
                <a:ea typeface="Arial" pitchFamily="34" charset="-122"/>
                <a:cs typeface="Arial" pitchFamily="34" charset="-120"/>
              </a:rPr>
              <a:t>Cotiviti's leadership stated at CCC25 that AI should amplify expert judgment, not replace it. Formalizing this as a published Responsible Clinical AI framework - covering model explainability, clinician review checkpoints, bias monitoring across patient subgroups, and audit trails - directly addresses health plans' growing liability concerns. In a market crowded with AI vendors making broad promises, this makes Cotiviti the trusted choice and reinforces its values: transparency, authenticity, and accountability.</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2000" advTm="825"/>
    </mc:Choice>
    <mc:Fallback>
      <p:transition spd="slow" advTm="82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30352"/>
          </a:xfrm>
          <a:prstGeom prst="rect">
            <a:avLst/>
          </a:prstGeom>
          <a:noFill/>
          <a:ln/>
        </p:spPr>
        <p:txBody>
          <a:bodyPr wrap="square" lIns="0" tIns="0" rIns="0" bIns="0" rtlCol="0" anchor="ctr"/>
          <a:lstStyle/>
          <a:p>
            <a:pPr marL="0" indent="0">
              <a:buNone/>
            </a:pPr>
            <a:r>
              <a:rPr lang="en-US" sz="2800" b="1" dirty="0">
                <a:solidFill>
                  <a:srgbClr val="1A0A3C"/>
                </a:solidFill>
                <a:latin typeface="Cambria" pitchFamily="34" charset="0"/>
                <a:ea typeface="Cambria" pitchFamily="34" charset="-122"/>
                <a:cs typeface="Cambria" pitchFamily="34" charset="-120"/>
              </a:rPr>
              <a:t>Proof of Concept: Clinical Report AI Assistant</a:t>
            </a:r>
            <a:endParaRPr lang="en-US" sz="2800" dirty="0"/>
          </a:p>
        </p:txBody>
      </p:sp>
      <p:sp>
        <p:nvSpPr>
          <p:cNvPr id="3" name="Text 1"/>
          <p:cNvSpPr/>
          <p:nvPr/>
        </p:nvSpPr>
        <p:spPr>
          <a:xfrm>
            <a:off x="411480" y="731520"/>
            <a:ext cx="8321040" cy="347472"/>
          </a:xfrm>
          <a:prstGeom prst="rect">
            <a:avLst/>
          </a:prstGeom>
          <a:noFill/>
          <a:ln/>
        </p:spPr>
        <p:txBody>
          <a:bodyPr wrap="square" lIns="0" tIns="0" rIns="0" bIns="0" rtlCol="0" anchor="ctr"/>
          <a:lstStyle/>
          <a:p>
            <a:pPr marL="0" indent="0">
              <a:buNone/>
            </a:pPr>
            <a:r>
              <a:rPr lang="en-US" sz="1100" i="1" dirty="0">
                <a:solidFill>
                  <a:srgbClr val="6B7280"/>
                </a:solidFill>
                <a:latin typeface="Arial" pitchFamily="34" charset="0"/>
                <a:ea typeface="Arial" pitchFamily="34" charset="-122"/>
                <a:cs typeface="Arial" pitchFamily="34" charset="-120"/>
              </a:rPr>
              <a:t>A working Streamlit app that demonstrates the exact documentation-quality problem Cotiviti's Post-Visit Review solves at enterprise scale</a:t>
            </a:r>
            <a:endParaRPr lang="en-US" sz="1100" dirty="0"/>
          </a:p>
        </p:txBody>
      </p:sp>
      <p:sp>
        <p:nvSpPr>
          <p:cNvPr id="4" name="Shape 2"/>
          <p:cNvSpPr/>
          <p:nvPr/>
        </p:nvSpPr>
        <p:spPr>
          <a:xfrm>
            <a:off x="320040" y="1207008"/>
            <a:ext cx="2029968" cy="2633472"/>
          </a:xfrm>
          <a:prstGeom prst="roundRect">
            <a:avLst>
              <a:gd name="adj" fmla="val 5856"/>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sp>
        <p:nvSpPr>
          <p:cNvPr id="5" name="Shape 3"/>
          <p:cNvSpPr/>
          <p:nvPr/>
        </p:nvSpPr>
        <p:spPr>
          <a:xfrm>
            <a:off x="886968" y="1389888"/>
            <a:ext cx="896112" cy="896112"/>
          </a:xfrm>
          <a:prstGeom prst="ellipse">
            <a:avLst/>
          </a:prstGeom>
          <a:solidFill>
            <a:srgbClr val="4B2D8F"/>
          </a:solidFill>
          <a:ln w="12700">
            <a:solidFill>
              <a:srgbClr val="4B2D8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42416" y="1536192"/>
            <a:ext cx="585216" cy="585216"/>
          </a:xfrm>
          <a:prstGeom prst="rect">
            <a:avLst/>
          </a:prstGeom>
        </p:spPr>
      </p:pic>
      <p:sp>
        <p:nvSpPr>
          <p:cNvPr id="7" name="Text 4"/>
          <p:cNvSpPr/>
          <p:nvPr/>
        </p:nvSpPr>
        <p:spPr>
          <a:xfrm>
            <a:off x="320040" y="2423160"/>
            <a:ext cx="2029968" cy="365760"/>
          </a:xfrm>
          <a:prstGeom prst="rect">
            <a:avLst/>
          </a:prstGeom>
          <a:noFill/>
          <a:ln/>
        </p:spPr>
        <p:txBody>
          <a:bodyPr wrap="square" lIns="0" tIns="0" rIns="0" bIns="0" rtlCol="0" anchor="ctr"/>
          <a:lstStyle/>
          <a:p>
            <a:pPr marL="0" indent="0" algn="ctr">
              <a:buNone/>
            </a:pPr>
            <a:r>
              <a:rPr lang="en-US" sz="1200" b="1" dirty="0">
                <a:solidFill>
                  <a:srgbClr val="1A0A3C"/>
                </a:solidFill>
                <a:latin typeface="Arial" pitchFamily="34" charset="0"/>
                <a:ea typeface="Arial" pitchFamily="34" charset="-122"/>
                <a:cs typeface="Arial" pitchFamily="34" charset="-120"/>
              </a:rPr>
              <a:t>Clinical Summary</a:t>
            </a:r>
            <a:endParaRPr lang="en-US" sz="1200" dirty="0"/>
          </a:p>
        </p:txBody>
      </p:sp>
      <p:sp>
        <p:nvSpPr>
          <p:cNvPr id="8" name="Text 5"/>
          <p:cNvSpPr/>
          <p:nvPr/>
        </p:nvSpPr>
        <p:spPr>
          <a:xfrm>
            <a:off x="411480" y="2834640"/>
            <a:ext cx="1847088" cy="969264"/>
          </a:xfrm>
          <a:prstGeom prst="rect">
            <a:avLst/>
          </a:prstGeom>
          <a:noFill/>
          <a:ln/>
        </p:spPr>
        <p:txBody>
          <a:bodyPr wrap="square" rtlCol="0" anchor="ctr"/>
          <a:lstStyle/>
          <a:p>
            <a:pPr marL="0" indent="0" algn="ctr">
              <a:buNone/>
            </a:pPr>
            <a:r>
              <a:rPr lang="en-US" sz="900" dirty="0">
                <a:solidFill>
                  <a:srgbClr val="374151"/>
                </a:solidFill>
                <a:latin typeface="Arial" pitchFamily="34" charset="0"/>
                <a:ea typeface="Arial" pitchFamily="34" charset="-122"/>
                <a:cs typeface="Arial" pitchFamily="34" charset="-120"/>
              </a:rPr>
              <a:t>Gemini 2.5 Flash Lite summarizes any pasted or uploaded clinical note into structured bullet points covering presenting issue, history, tests, treatment, and plan.</a:t>
            </a:r>
            <a:endParaRPr lang="en-US" sz="900" dirty="0"/>
          </a:p>
        </p:txBody>
      </p:sp>
      <p:sp>
        <p:nvSpPr>
          <p:cNvPr id="9" name="Shape 6"/>
          <p:cNvSpPr/>
          <p:nvPr/>
        </p:nvSpPr>
        <p:spPr>
          <a:xfrm>
            <a:off x="2514600" y="1207008"/>
            <a:ext cx="2029968" cy="2633472"/>
          </a:xfrm>
          <a:prstGeom prst="roundRect">
            <a:avLst>
              <a:gd name="adj" fmla="val 5856"/>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sp>
        <p:nvSpPr>
          <p:cNvPr id="10" name="Shape 7"/>
          <p:cNvSpPr/>
          <p:nvPr/>
        </p:nvSpPr>
        <p:spPr>
          <a:xfrm>
            <a:off x="3081528" y="1389888"/>
            <a:ext cx="896112" cy="896112"/>
          </a:xfrm>
          <a:prstGeom prst="ellipse">
            <a:avLst/>
          </a:prstGeom>
          <a:solidFill>
            <a:srgbClr val="4B2D8F"/>
          </a:solidFill>
          <a:ln w="12700">
            <a:solidFill>
              <a:srgbClr val="4B2D8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236976" y="1536192"/>
            <a:ext cx="585216" cy="585216"/>
          </a:xfrm>
          <a:prstGeom prst="rect">
            <a:avLst/>
          </a:prstGeom>
        </p:spPr>
      </p:pic>
      <p:sp>
        <p:nvSpPr>
          <p:cNvPr id="12" name="Text 8"/>
          <p:cNvSpPr/>
          <p:nvPr/>
        </p:nvSpPr>
        <p:spPr>
          <a:xfrm>
            <a:off x="2514600" y="2423160"/>
            <a:ext cx="2029968" cy="365760"/>
          </a:xfrm>
          <a:prstGeom prst="rect">
            <a:avLst/>
          </a:prstGeom>
          <a:noFill/>
          <a:ln/>
        </p:spPr>
        <p:txBody>
          <a:bodyPr wrap="square" lIns="0" tIns="0" rIns="0" bIns="0" rtlCol="0" anchor="ctr"/>
          <a:lstStyle/>
          <a:p>
            <a:pPr marL="0" indent="0" algn="ctr">
              <a:buNone/>
            </a:pPr>
            <a:r>
              <a:rPr lang="en-US" sz="1200" b="1" dirty="0">
                <a:solidFill>
                  <a:srgbClr val="1A0A3C"/>
                </a:solidFill>
                <a:latin typeface="Arial" pitchFamily="34" charset="0"/>
                <a:ea typeface="Arial" pitchFamily="34" charset="-122"/>
                <a:cs typeface="Arial" pitchFamily="34" charset="-120"/>
              </a:rPr>
              <a:t>Entity Extraction</a:t>
            </a:r>
            <a:endParaRPr lang="en-US" sz="1200" dirty="0"/>
          </a:p>
        </p:txBody>
      </p:sp>
      <p:sp>
        <p:nvSpPr>
          <p:cNvPr id="13" name="Text 9"/>
          <p:cNvSpPr/>
          <p:nvPr/>
        </p:nvSpPr>
        <p:spPr>
          <a:xfrm>
            <a:off x="2606040" y="2834640"/>
            <a:ext cx="1847088" cy="969264"/>
          </a:xfrm>
          <a:prstGeom prst="rect">
            <a:avLst/>
          </a:prstGeom>
          <a:noFill/>
          <a:ln/>
        </p:spPr>
        <p:txBody>
          <a:bodyPr wrap="square" rtlCol="0" anchor="ctr"/>
          <a:lstStyle/>
          <a:p>
            <a:pPr marL="0" indent="0" algn="ctr">
              <a:buNone/>
            </a:pPr>
            <a:r>
              <a:rPr lang="en-US" sz="900" dirty="0">
                <a:solidFill>
                  <a:srgbClr val="374151"/>
                </a:solidFill>
                <a:latin typeface="Arial" pitchFamily="34" charset="0"/>
                <a:ea typeface="Arial" pitchFamily="34" charset="-122"/>
                <a:cs typeface="Arial" pitchFamily="34" charset="-120"/>
              </a:rPr>
              <a:t>Extracts diagnoses, symptoms, labs, medications, imaging, providers, and time references from free text into a clean structured table.</a:t>
            </a:r>
            <a:endParaRPr lang="en-US" sz="900" dirty="0"/>
          </a:p>
        </p:txBody>
      </p:sp>
      <p:sp>
        <p:nvSpPr>
          <p:cNvPr id="14" name="Shape 10"/>
          <p:cNvSpPr/>
          <p:nvPr/>
        </p:nvSpPr>
        <p:spPr>
          <a:xfrm>
            <a:off x="4709160" y="1207008"/>
            <a:ext cx="2029968" cy="2633472"/>
          </a:xfrm>
          <a:prstGeom prst="roundRect">
            <a:avLst>
              <a:gd name="adj" fmla="val 5856"/>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sp>
        <p:nvSpPr>
          <p:cNvPr id="15" name="Shape 11"/>
          <p:cNvSpPr/>
          <p:nvPr/>
        </p:nvSpPr>
        <p:spPr>
          <a:xfrm>
            <a:off x="5276088" y="1389888"/>
            <a:ext cx="896112" cy="896112"/>
          </a:xfrm>
          <a:prstGeom prst="ellipse">
            <a:avLst/>
          </a:prstGeom>
          <a:solidFill>
            <a:srgbClr val="4B2D8F"/>
          </a:solidFill>
          <a:ln w="12700">
            <a:solidFill>
              <a:srgbClr val="4B2D8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431536" y="1536192"/>
            <a:ext cx="585216" cy="585216"/>
          </a:xfrm>
          <a:prstGeom prst="rect">
            <a:avLst/>
          </a:prstGeom>
        </p:spPr>
      </p:pic>
      <p:sp>
        <p:nvSpPr>
          <p:cNvPr id="17" name="Text 12"/>
          <p:cNvSpPr/>
          <p:nvPr/>
        </p:nvSpPr>
        <p:spPr>
          <a:xfrm>
            <a:off x="4709160" y="2423160"/>
            <a:ext cx="2029968" cy="365760"/>
          </a:xfrm>
          <a:prstGeom prst="rect">
            <a:avLst/>
          </a:prstGeom>
          <a:noFill/>
          <a:ln/>
        </p:spPr>
        <p:txBody>
          <a:bodyPr wrap="square" lIns="0" tIns="0" rIns="0" bIns="0" rtlCol="0" anchor="ctr"/>
          <a:lstStyle/>
          <a:p>
            <a:pPr marL="0" indent="0" algn="ctr">
              <a:buNone/>
            </a:pPr>
            <a:r>
              <a:rPr lang="en-US" sz="1200" b="1" dirty="0">
                <a:solidFill>
                  <a:srgbClr val="1A0A3C"/>
                </a:solidFill>
                <a:latin typeface="Arial" pitchFamily="34" charset="0"/>
                <a:ea typeface="Arial" pitchFamily="34" charset="-122"/>
                <a:cs typeface="Arial" pitchFamily="34" charset="-120"/>
              </a:rPr>
              <a:t>Documentation Gaps</a:t>
            </a:r>
            <a:endParaRPr lang="en-US" sz="1200" dirty="0"/>
          </a:p>
        </p:txBody>
      </p:sp>
      <p:sp>
        <p:nvSpPr>
          <p:cNvPr id="18" name="Text 13"/>
          <p:cNvSpPr/>
          <p:nvPr/>
        </p:nvSpPr>
        <p:spPr>
          <a:xfrm>
            <a:off x="4800600" y="2834640"/>
            <a:ext cx="1847088" cy="969264"/>
          </a:xfrm>
          <a:prstGeom prst="rect">
            <a:avLst/>
          </a:prstGeom>
          <a:noFill/>
          <a:ln/>
        </p:spPr>
        <p:txBody>
          <a:bodyPr wrap="square" rtlCol="0" anchor="ctr"/>
          <a:lstStyle/>
          <a:p>
            <a:pPr marL="0" indent="0" algn="ctr">
              <a:buNone/>
            </a:pPr>
            <a:r>
              <a:rPr lang="en-US" sz="900" dirty="0">
                <a:solidFill>
                  <a:srgbClr val="374151"/>
                </a:solidFill>
                <a:latin typeface="Arial" pitchFamily="34" charset="0"/>
                <a:ea typeface="Arial" pitchFamily="34" charset="-122"/>
                <a:cs typeface="Arial" pitchFamily="34" charset="-120"/>
              </a:rPr>
              <a:t>Flags missing dosages, ambiguous wording, absent test values, vague follow-up timing, and missing allergy documentation. This is exactly what coders and reviewers need.</a:t>
            </a:r>
            <a:endParaRPr lang="en-US" sz="900" dirty="0"/>
          </a:p>
        </p:txBody>
      </p:sp>
      <p:sp>
        <p:nvSpPr>
          <p:cNvPr id="19" name="Shape 14"/>
          <p:cNvSpPr/>
          <p:nvPr/>
        </p:nvSpPr>
        <p:spPr>
          <a:xfrm>
            <a:off x="6903720" y="1207008"/>
            <a:ext cx="2029968" cy="2633472"/>
          </a:xfrm>
          <a:prstGeom prst="roundRect">
            <a:avLst>
              <a:gd name="adj" fmla="val 5856"/>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sp>
        <p:nvSpPr>
          <p:cNvPr id="20" name="Shape 15"/>
          <p:cNvSpPr/>
          <p:nvPr/>
        </p:nvSpPr>
        <p:spPr>
          <a:xfrm>
            <a:off x="7470648" y="1389888"/>
            <a:ext cx="896112" cy="896112"/>
          </a:xfrm>
          <a:prstGeom prst="ellipse">
            <a:avLst/>
          </a:prstGeom>
          <a:solidFill>
            <a:srgbClr val="4B2D8F"/>
          </a:solidFill>
          <a:ln w="12700">
            <a:solidFill>
              <a:srgbClr val="4B2D8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7626096" y="1536192"/>
            <a:ext cx="585216" cy="585216"/>
          </a:xfrm>
          <a:prstGeom prst="rect">
            <a:avLst/>
          </a:prstGeom>
        </p:spPr>
      </p:pic>
      <p:sp>
        <p:nvSpPr>
          <p:cNvPr id="22" name="Text 16"/>
          <p:cNvSpPr/>
          <p:nvPr/>
        </p:nvSpPr>
        <p:spPr>
          <a:xfrm>
            <a:off x="6903720" y="2423160"/>
            <a:ext cx="2029968" cy="365760"/>
          </a:xfrm>
          <a:prstGeom prst="rect">
            <a:avLst/>
          </a:prstGeom>
          <a:noFill/>
          <a:ln/>
        </p:spPr>
        <p:txBody>
          <a:bodyPr wrap="square" lIns="0" tIns="0" rIns="0" bIns="0" rtlCol="0" anchor="ctr"/>
          <a:lstStyle/>
          <a:p>
            <a:pPr marL="0" indent="0" algn="ctr">
              <a:buNone/>
            </a:pPr>
            <a:r>
              <a:rPr lang="en-US" sz="1200" b="1" dirty="0">
                <a:solidFill>
                  <a:srgbClr val="1A0A3C"/>
                </a:solidFill>
                <a:latin typeface="Arial" pitchFamily="34" charset="0"/>
                <a:ea typeface="Arial" pitchFamily="34" charset="-122"/>
                <a:cs typeface="Arial" pitchFamily="34" charset="-120"/>
              </a:rPr>
              <a:t>Clinical Q&amp;A</a:t>
            </a:r>
            <a:endParaRPr lang="en-US" sz="1200" dirty="0"/>
          </a:p>
        </p:txBody>
      </p:sp>
      <p:sp>
        <p:nvSpPr>
          <p:cNvPr id="23" name="Text 17"/>
          <p:cNvSpPr/>
          <p:nvPr/>
        </p:nvSpPr>
        <p:spPr>
          <a:xfrm>
            <a:off x="6995160" y="2834640"/>
            <a:ext cx="1847088" cy="969264"/>
          </a:xfrm>
          <a:prstGeom prst="rect">
            <a:avLst/>
          </a:prstGeom>
          <a:noFill/>
          <a:ln/>
        </p:spPr>
        <p:txBody>
          <a:bodyPr wrap="square" rtlCol="0" anchor="ctr"/>
          <a:lstStyle/>
          <a:p>
            <a:pPr marL="0" indent="0" algn="ctr">
              <a:buNone/>
            </a:pPr>
            <a:r>
              <a:rPr lang="en-US" sz="900" dirty="0">
                <a:solidFill>
                  <a:srgbClr val="374151"/>
                </a:solidFill>
                <a:latin typeface="Arial" pitchFamily="34" charset="0"/>
                <a:ea typeface="Arial" pitchFamily="34" charset="-122"/>
                <a:cs typeface="Arial" pitchFamily="34" charset="-120"/>
              </a:rPr>
              <a:t>Answer any question about the note, grounded in the source document only. Next step: citations back to exact source lines for full auditability.</a:t>
            </a:r>
            <a:endParaRPr lang="en-US" sz="900" dirty="0"/>
          </a:p>
        </p:txBody>
      </p:sp>
      <p:sp>
        <p:nvSpPr>
          <p:cNvPr id="24" name="Shape 18"/>
          <p:cNvSpPr/>
          <p:nvPr/>
        </p:nvSpPr>
        <p:spPr>
          <a:xfrm>
            <a:off x="320040" y="3959352"/>
            <a:ext cx="8503920" cy="877824"/>
          </a:xfrm>
          <a:prstGeom prst="roundRect">
            <a:avLst>
              <a:gd name="adj" fmla="val 13542"/>
            </a:avLst>
          </a:prstGeom>
          <a:solidFill>
            <a:srgbClr val="1A0A3C"/>
          </a:solidFill>
          <a:ln w="12700">
            <a:solidFill>
              <a:srgbClr val="1A0A3C"/>
            </a:solidFill>
            <a:prstDash val="solid"/>
          </a:ln>
        </p:spPr>
        <p:txBody>
          <a:bodyPr/>
          <a:lstStyle/>
          <a:p>
            <a:endParaRPr lang="en-US"/>
          </a:p>
        </p:txBody>
      </p:sp>
      <p:sp>
        <p:nvSpPr>
          <p:cNvPr id="25" name="Text 19"/>
          <p:cNvSpPr/>
          <p:nvPr/>
        </p:nvSpPr>
        <p:spPr>
          <a:xfrm>
            <a:off x="548640" y="4078224"/>
            <a:ext cx="1280160" cy="502920"/>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Tech Stack:</a:t>
            </a:r>
            <a:endParaRPr lang="en-US" sz="1050" dirty="0"/>
          </a:p>
        </p:txBody>
      </p:sp>
      <p:sp>
        <p:nvSpPr>
          <p:cNvPr id="26" name="Shape 20"/>
          <p:cNvSpPr/>
          <p:nvPr/>
        </p:nvSpPr>
        <p:spPr>
          <a:xfrm>
            <a:off x="1755648" y="4096512"/>
            <a:ext cx="1078992" cy="384048"/>
          </a:xfrm>
          <a:prstGeom prst="roundRect">
            <a:avLst>
              <a:gd name="adj" fmla="val 30952"/>
            </a:avLst>
          </a:prstGeom>
          <a:solidFill>
            <a:srgbClr val="6B4DB0"/>
          </a:solidFill>
          <a:ln w="12700">
            <a:solidFill>
              <a:srgbClr val="6B4DB0"/>
            </a:solidFill>
            <a:prstDash val="solid"/>
          </a:ln>
        </p:spPr>
        <p:txBody>
          <a:bodyPr/>
          <a:lstStyle/>
          <a:p>
            <a:endParaRPr lang="en-US"/>
          </a:p>
        </p:txBody>
      </p:sp>
      <p:sp>
        <p:nvSpPr>
          <p:cNvPr id="27" name="Text 21"/>
          <p:cNvSpPr/>
          <p:nvPr/>
        </p:nvSpPr>
        <p:spPr>
          <a:xfrm>
            <a:off x="1755648" y="4096512"/>
            <a:ext cx="1078992"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Python</a:t>
            </a:r>
            <a:endParaRPr lang="en-US" sz="900" dirty="0"/>
          </a:p>
        </p:txBody>
      </p:sp>
      <p:sp>
        <p:nvSpPr>
          <p:cNvPr id="28" name="Shape 22"/>
          <p:cNvSpPr/>
          <p:nvPr/>
        </p:nvSpPr>
        <p:spPr>
          <a:xfrm>
            <a:off x="2926080" y="4096512"/>
            <a:ext cx="1078992" cy="384048"/>
          </a:xfrm>
          <a:prstGeom prst="roundRect">
            <a:avLst>
              <a:gd name="adj" fmla="val 30952"/>
            </a:avLst>
          </a:prstGeom>
          <a:solidFill>
            <a:srgbClr val="6B4DB0"/>
          </a:solidFill>
          <a:ln w="12700">
            <a:solidFill>
              <a:srgbClr val="6B4DB0"/>
            </a:solidFill>
            <a:prstDash val="solid"/>
          </a:ln>
        </p:spPr>
        <p:txBody>
          <a:bodyPr/>
          <a:lstStyle/>
          <a:p>
            <a:endParaRPr lang="en-US"/>
          </a:p>
        </p:txBody>
      </p:sp>
      <p:sp>
        <p:nvSpPr>
          <p:cNvPr id="29" name="Text 23"/>
          <p:cNvSpPr/>
          <p:nvPr/>
        </p:nvSpPr>
        <p:spPr>
          <a:xfrm>
            <a:off x="2926080" y="4096512"/>
            <a:ext cx="1078992"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Streamlit</a:t>
            </a:r>
            <a:endParaRPr lang="en-US" sz="900" dirty="0"/>
          </a:p>
        </p:txBody>
      </p:sp>
      <p:sp>
        <p:nvSpPr>
          <p:cNvPr id="30" name="Shape 24"/>
          <p:cNvSpPr/>
          <p:nvPr/>
        </p:nvSpPr>
        <p:spPr>
          <a:xfrm>
            <a:off x="4096512" y="4096512"/>
            <a:ext cx="1078992" cy="384048"/>
          </a:xfrm>
          <a:prstGeom prst="roundRect">
            <a:avLst>
              <a:gd name="adj" fmla="val 30952"/>
            </a:avLst>
          </a:prstGeom>
          <a:solidFill>
            <a:srgbClr val="6B4DB0"/>
          </a:solidFill>
          <a:ln w="12700">
            <a:solidFill>
              <a:srgbClr val="6B4DB0"/>
            </a:solidFill>
            <a:prstDash val="solid"/>
          </a:ln>
        </p:spPr>
        <p:txBody>
          <a:bodyPr/>
          <a:lstStyle/>
          <a:p>
            <a:endParaRPr lang="en-US"/>
          </a:p>
        </p:txBody>
      </p:sp>
      <p:sp>
        <p:nvSpPr>
          <p:cNvPr id="31" name="Text 25"/>
          <p:cNvSpPr/>
          <p:nvPr/>
        </p:nvSpPr>
        <p:spPr>
          <a:xfrm>
            <a:off x="4096512" y="4096512"/>
            <a:ext cx="1078992"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Gemini 2.5 Flash</a:t>
            </a:r>
            <a:endParaRPr lang="en-US" sz="900" dirty="0"/>
          </a:p>
        </p:txBody>
      </p:sp>
      <p:sp>
        <p:nvSpPr>
          <p:cNvPr id="32" name="Shape 26"/>
          <p:cNvSpPr/>
          <p:nvPr/>
        </p:nvSpPr>
        <p:spPr>
          <a:xfrm>
            <a:off x="5266944" y="4096512"/>
            <a:ext cx="1078992" cy="384048"/>
          </a:xfrm>
          <a:prstGeom prst="roundRect">
            <a:avLst>
              <a:gd name="adj" fmla="val 30952"/>
            </a:avLst>
          </a:prstGeom>
          <a:solidFill>
            <a:srgbClr val="6B4DB0"/>
          </a:solidFill>
          <a:ln w="12700">
            <a:solidFill>
              <a:srgbClr val="6B4DB0"/>
            </a:solidFill>
            <a:prstDash val="solid"/>
          </a:ln>
        </p:spPr>
        <p:txBody>
          <a:bodyPr/>
          <a:lstStyle/>
          <a:p>
            <a:endParaRPr lang="en-US"/>
          </a:p>
        </p:txBody>
      </p:sp>
      <p:sp>
        <p:nvSpPr>
          <p:cNvPr id="33" name="Text 27"/>
          <p:cNvSpPr/>
          <p:nvPr/>
        </p:nvSpPr>
        <p:spPr>
          <a:xfrm>
            <a:off x="5266944" y="4096512"/>
            <a:ext cx="1078992"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PyPDF</a:t>
            </a:r>
            <a:endParaRPr lang="en-US" sz="900" dirty="0"/>
          </a:p>
        </p:txBody>
      </p:sp>
      <p:sp>
        <p:nvSpPr>
          <p:cNvPr id="34" name="Shape 28"/>
          <p:cNvSpPr/>
          <p:nvPr/>
        </p:nvSpPr>
        <p:spPr>
          <a:xfrm>
            <a:off x="6437376" y="4096512"/>
            <a:ext cx="1078992" cy="384048"/>
          </a:xfrm>
          <a:prstGeom prst="roundRect">
            <a:avLst>
              <a:gd name="adj" fmla="val 30952"/>
            </a:avLst>
          </a:prstGeom>
          <a:solidFill>
            <a:srgbClr val="6B4DB0"/>
          </a:solidFill>
          <a:ln w="12700">
            <a:solidFill>
              <a:srgbClr val="6B4DB0"/>
            </a:solidFill>
            <a:prstDash val="solid"/>
          </a:ln>
        </p:spPr>
        <p:txBody>
          <a:bodyPr/>
          <a:lstStyle/>
          <a:p>
            <a:endParaRPr lang="en-US"/>
          </a:p>
        </p:txBody>
      </p:sp>
      <p:sp>
        <p:nvSpPr>
          <p:cNvPr id="35" name="Text 29"/>
          <p:cNvSpPr/>
          <p:nvPr/>
        </p:nvSpPr>
        <p:spPr>
          <a:xfrm>
            <a:off x="6437376" y="4096512"/>
            <a:ext cx="1078992"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Pandas</a:t>
            </a:r>
            <a:endParaRPr lang="en-US" sz="900" dirty="0"/>
          </a:p>
        </p:txBody>
      </p:sp>
      <p:sp>
        <p:nvSpPr>
          <p:cNvPr id="36" name="Shape 30"/>
          <p:cNvSpPr/>
          <p:nvPr/>
        </p:nvSpPr>
        <p:spPr>
          <a:xfrm>
            <a:off x="7607808" y="4096512"/>
            <a:ext cx="1078992" cy="384048"/>
          </a:xfrm>
          <a:prstGeom prst="roundRect">
            <a:avLst>
              <a:gd name="adj" fmla="val 30952"/>
            </a:avLst>
          </a:prstGeom>
          <a:solidFill>
            <a:srgbClr val="6B4DB0"/>
          </a:solidFill>
          <a:ln w="12700">
            <a:solidFill>
              <a:srgbClr val="6B4DB0"/>
            </a:solidFill>
            <a:prstDash val="solid"/>
          </a:ln>
        </p:spPr>
        <p:txBody>
          <a:bodyPr/>
          <a:lstStyle/>
          <a:p>
            <a:endParaRPr lang="en-US"/>
          </a:p>
        </p:txBody>
      </p:sp>
      <p:sp>
        <p:nvSpPr>
          <p:cNvPr id="37" name="Text 31"/>
          <p:cNvSpPr/>
          <p:nvPr/>
        </p:nvSpPr>
        <p:spPr>
          <a:xfrm>
            <a:off x="7607808" y="4096512"/>
            <a:ext cx="1078992"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Demo Mode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380"/>
    </mc:Choice>
    <mc:Fallback>
      <p:transition spd="slow" advTm="38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FC"/>
        </a:solidFill>
        <a:effectLst/>
      </p:bgPr>
    </p:bg>
    <p:spTree>
      <p:nvGrpSpPr>
        <p:cNvPr id="1" name=""/>
        <p:cNvGrpSpPr/>
        <p:nvPr/>
      </p:nvGrpSpPr>
      <p:grpSpPr>
        <a:xfrm>
          <a:off x="0" y="0"/>
          <a:ext cx="0" cy="0"/>
          <a:chOff x="0" y="0"/>
          <a:chExt cx="0" cy="0"/>
        </a:xfrm>
      </p:grpSpPr>
      <p:sp>
        <p:nvSpPr>
          <p:cNvPr id="2" name="Text 0"/>
          <p:cNvSpPr/>
          <p:nvPr/>
        </p:nvSpPr>
        <p:spPr>
          <a:xfrm>
            <a:off x="411480" y="182880"/>
            <a:ext cx="8321040" cy="502920"/>
          </a:xfrm>
          <a:prstGeom prst="rect">
            <a:avLst/>
          </a:prstGeom>
          <a:noFill/>
          <a:ln/>
        </p:spPr>
        <p:txBody>
          <a:bodyPr wrap="square" lIns="0" tIns="0" rIns="0" bIns="0" rtlCol="0" anchor="ctr"/>
          <a:lstStyle/>
          <a:p>
            <a:pPr marL="0" indent="0">
              <a:buNone/>
            </a:pPr>
            <a:r>
              <a:rPr lang="en-US" sz="3000" b="1" dirty="0">
                <a:solidFill>
                  <a:srgbClr val="1A0A3C"/>
                </a:solidFill>
                <a:latin typeface="Cambria" pitchFamily="34" charset="0"/>
                <a:ea typeface="Cambria" pitchFamily="34" charset="-122"/>
                <a:cs typeface="Cambria" pitchFamily="34" charset="-120"/>
              </a:rPr>
              <a:t>POC Demo — Live Interface</a:t>
            </a:r>
            <a:endParaRPr lang="en-US" sz="3000" dirty="0"/>
          </a:p>
        </p:txBody>
      </p:sp>
      <p:sp>
        <p:nvSpPr>
          <p:cNvPr id="3" name="Shape 1"/>
          <p:cNvSpPr/>
          <p:nvPr/>
        </p:nvSpPr>
        <p:spPr>
          <a:xfrm>
            <a:off x="320040" y="777240"/>
            <a:ext cx="4800600" cy="3493008"/>
          </a:xfrm>
          <a:prstGeom prst="roundRect">
            <a:avLst>
              <a:gd name="adj" fmla="val 3403"/>
            </a:avLst>
          </a:prstGeom>
          <a:solidFill>
            <a:srgbClr val="FFFFFF"/>
          </a:solidFill>
          <a:ln w="12700">
            <a:solidFill>
              <a:srgbClr val="FFFFFF"/>
            </a:solidFill>
            <a:prstDash val="solid"/>
          </a:ln>
          <a:effectLst>
            <a:outerShdw blurRad="127000" dist="25400" dir="2700000" algn="bl" rotWithShape="0">
              <a:srgbClr val="000000">
                <a:alpha val="9000"/>
              </a:srgbClr>
            </a:outerShdw>
          </a:effectLst>
        </p:spPr>
        <p:txBody>
          <a:bodyPr/>
          <a:lstStyle/>
          <a:p>
            <a:endParaRPr lang="en-US"/>
          </a:p>
        </p:txBody>
      </p:sp>
      <p:pic>
        <p:nvPicPr>
          <p:cNvPr id="4" name="Image 0" descr="/home/claude/poc_screen1.png"/>
          <p:cNvPicPr>
            <a:picLocks noChangeAspect="1"/>
          </p:cNvPicPr>
          <p:nvPr/>
        </p:nvPicPr>
        <p:blipFill>
          <a:blip r:embed="rId3"/>
          <a:srcRect/>
          <a:stretch/>
        </p:blipFill>
        <p:spPr>
          <a:xfrm>
            <a:off x="420624" y="914400"/>
            <a:ext cx="4562856" cy="3218688"/>
          </a:xfrm>
          <a:prstGeom prst="rect">
            <a:avLst/>
          </a:prstGeom>
        </p:spPr>
      </p:pic>
      <p:sp>
        <p:nvSpPr>
          <p:cNvPr id="5" name="Shape 2"/>
          <p:cNvSpPr/>
          <p:nvPr/>
        </p:nvSpPr>
        <p:spPr>
          <a:xfrm>
            <a:off x="5285232" y="777240"/>
            <a:ext cx="3547872" cy="3493008"/>
          </a:xfrm>
          <a:prstGeom prst="roundRect">
            <a:avLst>
              <a:gd name="adj" fmla="val 3403"/>
            </a:avLst>
          </a:prstGeom>
          <a:solidFill>
            <a:srgbClr val="FFFFFF"/>
          </a:solidFill>
          <a:ln w="12700">
            <a:solidFill>
              <a:srgbClr val="FFFFFF"/>
            </a:solidFill>
            <a:prstDash val="solid"/>
          </a:ln>
          <a:effectLst>
            <a:outerShdw blurRad="127000" dist="25400" dir="2700000" algn="bl" rotWithShape="0">
              <a:srgbClr val="000000">
                <a:alpha val="9000"/>
              </a:srgbClr>
            </a:outerShdw>
          </a:effectLst>
        </p:spPr>
        <p:txBody>
          <a:bodyPr/>
          <a:lstStyle/>
          <a:p>
            <a:endParaRPr lang="en-US"/>
          </a:p>
        </p:txBody>
      </p:sp>
      <p:pic>
        <p:nvPicPr>
          <p:cNvPr id="6" name="Image 1" descr="/home/claude/poc_screen2.png"/>
          <p:cNvPicPr>
            <a:picLocks noChangeAspect="1"/>
          </p:cNvPicPr>
          <p:nvPr/>
        </p:nvPicPr>
        <p:blipFill>
          <a:blip r:embed="rId4"/>
          <a:srcRect/>
          <a:stretch/>
        </p:blipFill>
        <p:spPr>
          <a:xfrm>
            <a:off x="5394960" y="914400"/>
            <a:ext cx="3328416" cy="3218688"/>
          </a:xfrm>
          <a:prstGeom prst="rect">
            <a:avLst/>
          </a:prstGeom>
        </p:spPr>
      </p:pic>
      <p:sp>
        <p:nvSpPr>
          <p:cNvPr id="7" name="Text 3"/>
          <p:cNvSpPr/>
          <p:nvPr/>
        </p:nvSpPr>
        <p:spPr>
          <a:xfrm>
            <a:off x="320040" y="4334256"/>
            <a:ext cx="4800600" cy="274320"/>
          </a:xfrm>
          <a:prstGeom prst="rect">
            <a:avLst/>
          </a:prstGeom>
          <a:noFill/>
          <a:ln/>
        </p:spPr>
        <p:txBody>
          <a:bodyPr wrap="square" lIns="0" tIns="0" rIns="0" bIns="0" rtlCol="0" anchor="ctr"/>
          <a:lstStyle/>
          <a:p>
            <a:pPr marL="0" indent="0" algn="ctr">
              <a:buNone/>
            </a:pPr>
            <a:r>
              <a:rPr lang="en-US" sz="850" i="1" dirty="0">
                <a:solidFill>
                  <a:srgbClr val="6B7280"/>
                </a:solidFill>
                <a:latin typeface="Arial" pitchFamily="34" charset="0"/>
                <a:ea typeface="Arial" pitchFamily="34" charset="-122"/>
                <a:cs typeface="Arial" pitchFamily="34" charset="-120"/>
              </a:rPr>
              <a:t>Upload PDF or paste clinical note and the text is extracted automatically</a:t>
            </a:r>
            <a:endParaRPr lang="en-US" sz="850" dirty="0"/>
          </a:p>
        </p:txBody>
      </p:sp>
      <p:sp>
        <p:nvSpPr>
          <p:cNvPr id="8" name="Text 4"/>
          <p:cNvSpPr/>
          <p:nvPr/>
        </p:nvSpPr>
        <p:spPr>
          <a:xfrm>
            <a:off x="5285232" y="4334256"/>
            <a:ext cx="3547872" cy="274320"/>
          </a:xfrm>
          <a:prstGeom prst="rect">
            <a:avLst/>
          </a:prstGeom>
          <a:noFill/>
          <a:ln/>
        </p:spPr>
        <p:txBody>
          <a:bodyPr wrap="square" lIns="0" tIns="0" rIns="0" bIns="0" rtlCol="0" anchor="ctr"/>
          <a:lstStyle/>
          <a:p>
            <a:pPr marL="0" indent="0" algn="ctr">
              <a:buNone/>
            </a:pPr>
            <a:r>
              <a:rPr lang="en-US" sz="850" i="1" dirty="0">
                <a:solidFill>
                  <a:srgbClr val="6B7280"/>
                </a:solidFill>
                <a:latin typeface="Arial" pitchFamily="34" charset="0"/>
                <a:ea typeface="Arial" pitchFamily="34" charset="-122"/>
                <a:cs typeface="Arial" pitchFamily="34" charset="-120"/>
              </a:rPr>
              <a:t>Real-time dashboard: Documents Loaded · Entities · Gaps · AI Status</a:t>
            </a:r>
            <a:endParaRPr lang="en-US" sz="850" dirty="0"/>
          </a:p>
        </p:txBody>
      </p:sp>
      <p:sp>
        <p:nvSpPr>
          <p:cNvPr id="9" name="Text 5"/>
          <p:cNvSpPr/>
          <p:nvPr/>
        </p:nvSpPr>
        <p:spPr>
          <a:xfrm>
            <a:off x="457200" y="4709160"/>
            <a:ext cx="8229600" cy="274320"/>
          </a:xfrm>
          <a:prstGeom prst="rect">
            <a:avLst/>
          </a:prstGeom>
          <a:noFill/>
          <a:ln/>
        </p:spPr>
        <p:txBody>
          <a:bodyPr wrap="square" lIns="0" tIns="0" rIns="0" bIns="0" rtlCol="0" anchor="ctr"/>
          <a:lstStyle/>
          <a:p>
            <a:pPr marL="0" indent="0" algn="ctr">
              <a:buNone/>
            </a:pPr>
            <a:endParaRPr lang="en-US" sz="850" dirty="0"/>
          </a:p>
        </p:txBody>
      </p:sp>
    </p:spTree>
  </p:cSld>
  <p:clrMapOvr>
    <a:masterClrMapping/>
  </p:clrMapOvr>
  <mc:AlternateContent xmlns:mc="http://schemas.openxmlformats.org/markup-compatibility/2006">
    <mc:Choice xmlns:p14="http://schemas.microsoft.com/office/powerpoint/2010/main" Requires="p14">
      <p:transition spd="slow" p14:dur="2000" advTm="1286"/>
    </mc:Choice>
    <mc:Fallback>
      <p:transition spd="slow" advTm="128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2800" b="1" dirty="0">
                <a:solidFill>
                  <a:srgbClr val="1A0A3C"/>
                </a:solidFill>
                <a:latin typeface="Cambria" pitchFamily="34" charset="0"/>
                <a:ea typeface="Cambria" pitchFamily="34" charset="-122"/>
                <a:cs typeface="Cambria" pitchFamily="34" charset="-120"/>
              </a:rPr>
              <a:t>Demo Summary</a:t>
            </a:r>
            <a:endParaRPr lang="en-US" sz="2800" dirty="0"/>
          </a:p>
        </p:txBody>
      </p:sp>
      <p:sp>
        <p:nvSpPr>
          <p:cNvPr id="3" name="Text 1"/>
          <p:cNvSpPr/>
          <p:nvPr/>
        </p:nvSpPr>
        <p:spPr>
          <a:xfrm>
            <a:off x="411480" y="713232"/>
            <a:ext cx="8321040" cy="320040"/>
          </a:xfrm>
          <a:prstGeom prst="rect">
            <a:avLst/>
          </a:prstGeom>
          <a:noFill/>
          <a:ln/>
        </p:spPr>
        <p:txBody>
          <a:bodyPr wrap="square" lIns="0" tIns="0" rIns="0" bIns="0" rtlCol="0" anchor="ctr"/>
          <a:lstStyle/>
          <a:p>
            <a:pPr marL="0" indent="0">
              <a:buNone/>
            </a:pPr>
            <a:r>
              <a:rPr lang="en-US" sz="1100" i="1" dirty="0">
                <a:solidFill>
                  <a:srgbClr val="6B7280"/>
                </a:solidFill>
                <a:latin typeface="Arial" pitchFamily="34" charset="0"/>
                <a:ea typeface="Arial" pitchFamily="34" charset="-122"/>
                <a:cs typeface="Arial" pitchFamily="34" charset="-120"/>
              </a:rPr>
              <a:t>Each tab solves a different reviewer problem — the same problems Cotiviti's clients face at enterprise scale</a:t>
            </a:r>
            <a:endParaRPr lang="en-US" sz="1100" dirty="0"/>
          </a:p>
        </p:txBody>
      </p:sp>
      <p:sp>
        <p:nvSpPr>
          <p:cNvPr id="4" name="Shape 2"/>
          <p:cNvSpPr/>
          <p:nvPr/>
        </p:nvSpPr>
        <p:spPr>
          <a:xfrm>
            <a:off x="365760" y="1216152"/>
            <a:ext cx="530352" cy="530352"/>
          </a:xfrm>
          <a:prstGeom prst="roundRect">
            <a:avLst>
              <a:gd name="adj" fmla="val 22414"/>
            </a:avLst>
          </a:prstGeom>
          <a:solidFill>
            <a:srgbClr val="4B2D8F"/>
          </a:solidFill>
          <a:ln w="12700">
            <a:solidFill>
              <a:srgbClr val="4B2D8F"/>
            </a:solidFill>
            <a:prstDash val="solid"/>
          </a:ln>
        </p:spPr>
        <p:txBody>
          <a:bodyPr/>
          <a:lstStyle/>
          <a:p>
            <a:endParaRPr lang="en-US"/>
          </a:p>
        </p:txBody>
      </p:sp>
      <p:sp>
        <p:nvSpPr>
          <p:cNvPr id="5" name="Text 3"/>
          <p:cNvSpPr/>
          <p:nvPr/>
        </p:nvSpPr>
        <p:spPr>
          <a:xfrm>
            <a:off x="365760" y="1216152"/>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6" name="Shape 4"/>
          <p:cNvSpPr/>
          <p:nvPr/>
        </p:nvSpPr>
        <p:spPr>
          <a:xfrm>
            <a:off x="1005840" y="1143000"/>
            <a:ext cx="7772400" cy="859536"/>
          </a:xfrm>
          <a:prstGeom prst="roundRect">
            <a:avLst>
              <a:gd name="adj" fmla="val 13830"/>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dirty="0"/>
          </a:p>
        </p:txBody>
      </p:sp>
      <p:pic>
        <p:nvPicPr>
          <p:cNvPr id="7" name="Image 0" descr="preencoded.png"/>
          <p:cNvPicPr>
            <a:picLocks noChangeAspect="1"/>
          </p:cNvPicPr>
          <p:nvPr/>
        </p:nvPicPr>
        <p:blipFill>
          <a:blip r:embed="rId3"/>
          <a:stretch>
            <a:fillRect/>
          </a:stretch>
        </p:blipFill>
        <p:spPr>
          <a:xfrm>
            <a:off x="1115568" y="1344168"/>
            <a:ext cx="384048" cy="384048"/>
          </a:xfrm>
          <a:prstGeom prst="rect">
            <a:avLst/>
          </a:prstGeom>
        </p:spPr>
      </p:pic>
      <p:sp>
        <p:nvSpPr>
          <p:cNvPr id="8" name="Text 5"/>
          <p:cNvSpPr/>
          <p:nvPr/>
        </p:nvSpPr>
        <p:spPr>
          <a:xfrm>
            <a:off x="1609344" y="1216152"/>
            <a:ext cx="4023360" cy="274320"/>
          </a:xfrm>
          <a:prstGeom prst="rect">
            <a:avLst/>
          </a:prstGeom>
          <a:noFill/>
          <a:ln/>
        </p:spPr>
        <p:txBody>
          <a:bodyPr wrap="square" lIns="0" tIns="0" rIns="0" bIns="0" rtlCol="0" anchor="ctr"/>
          <a:lstStyle/>
          <a:p>
            <a:pPr marL="0" indent="0">
              <a:buNone/>
            </a:pPr>
            <a:r>
              <a:rPr lang="en-US" sz="1200" b="1" dirty="0">
                <a:solidFill>
                  <a:srgbClr val="1A0A3C"/>
                </a:solidFill>
                <a:latin typeface="Arial" pitchFamily="34" charset="0"/>
                <a:ea typeface="Arial" pitchFamily="34" charset="-122"/>
                <a:cs typeface="Arial" pitchFamily="34" charset="-120"/>
              </a:rPr>
              <a:t>Generate Summary  </a:t>
            </a:r>
            <a:endParaRPr lang="en-US" sz="1200" dirty="0"/>
          </a:p>
        </p:txBody>
      </p:sp>
      <p:sp>
        <p:nvSpPr>
          <p:cNvPr id="9" name="Text 6"/>
          <p:cNvSpPr/>
          <p:nvPr/>
        </p:nvSpPr>
        <p:spPr>
          <a:xfrm>
            <a:off x="1609344" y="1508760"/>
            <a:ext cx="393192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Paste or upload the clinical note. One click generates a structured bullet summary: presenting issue, PMH, tests, treatments, plan. Orients the reviewer in seconds vs. reading the full document.</a:t>
            </a:r>
            <a:endParaRPr lang="en-US" sz="900" dirty="0"/>
          </a:p>
        </p:txBody>
      </p:sp>
      <p:sp>
        <p:nvSpPr>
          <p:cNvPr id="10" name="Shape 7"/>
          <p:cNvSpPr/>
          <p:nvPr/>
        </p:nvSpPr>
        <p:spPr>
          <a:xfrm>
            <a:off x="5760720" y="1271016"/>
            <a:ext cx="2907792" cy="566928"/>
          </a:xfrm>
          <a:prstGeom prst="roundRect">
            <a:avLst>
              <a:gd name="adj" fmla="val 20968"/>
            </a:avLst>
          </a:prstGeom>
          <a:solidFill>
            <a:srgbClr val="1A0A3C"/>
          </a:solidFill>
          <a:ln w="12700">
            <a:solidFill>
              <a:srgbClr val="1A0A3C"/>
            </a:solidFill>
            <a:prstDash val="solid"/>
          </a:ln>
        </p:spPr>
        <p:txBody>
          <a:bodyPr/>
          <a:lstStyle/>
          <a:p>
            <a:endParaRPr lang="en-US"/>
          </a:p>
        </p:txBody>
      </p:sp>
      <p:sp>
        <p:nvSpPr>
          <p:cNvPr id="11" name="Text 8"/>
          <p:cNvSpPr/>
          <p:nvPr/>
        </p:nvSpPr>
        <p:spPr>
          <a:xfrm>
            <a:off x="5833872" y="1271016"/>
            <a:ext cx="2834640" cy="566928"/>
          </a:xfrm>
          <a:prstGeom prst="rect">
            <a:avLst/>
          </a:prstGeom>
          <a:noFill/>
          <a:ln/>
        </p:spPr>
        <p:txBody>
          <a:bodyPr wrap="square" rtlCol="0" anchor="ctr"/>
          <a:lstStyle/>
          <a:p>
            <a:pPr marL="0" indent="0">
              <a:buNone/>
            </a:pPr>
            <a:r>
              <a:rPr lang="en-US" sz="850" i="1" dirty="0">
                <a:solidFill>
                  <a:srgbClr val="E8E0F8"/>
                </a:solidFill>
                <a:latin typeface="Arial" pitchFamily="34" charset="0"/>
                <a:ea typeface="Arial" pitchFamily="34" charset="-122"/>
                <a:cs typeface="Arial" pitchFamily="34" charset="-120"/>
              </a:rPr>
              <a:t>Faster chart review for risk adjustment and quality teams.</a:t>
            </a:r>
            <a:endParaRPr lang="en-US" sz="850" dirty="0"/>
          </a:p>
        </p:txBody>
      </p:sp>
      <p:sp>
        <p:nvSpPr>
          <p:cNvPr id="12" name="Shape 9"/>
          <p:cNvSpPr/>
          <p:nvPr/>
        </p:nvSpPr>
        <p:spPr>
          <a:xfrm>
            <a:off x="365760" y="2167128"/>
            <a:ext cx="530352" cy="530352"/>
          </a:xfrm>
          <a:prstGeom prst="roundRect">
            <a:avLst>
              <a:gd name="adj" fmla="val 22414"/>
            </a:avLst>
          </a:prstGeom>
          <a:solidFill>
            <a:srgbClr val="6B4DB0"/>
          </a:solidFill>
          <a:ln w="12700">
            <a:solidFill>
              <a:srgbClr val="6B4DB0"/>
            </a:solidFill>
            <a:prstDash val="solid"/>
          </a:ln>
        </p:spPr>
        <p:txBody>
          <a:bodyPr/>
          <a:lstStyle/>
          <a:p>
            <a:endParaRPr lang="en-US"/>
          </a:p>
        </p:txBody>
      </p:sp>
      <p:sp>
        <p:nvSpPr>
          <p:cNvPr id="13" name="Text 10"/>
          <p:cNvSpPr/>
          <p:nvPr/>
        </p:nvSpPr>
        <p:spPr>
          <a:xfrm>
            <a:off x="365760" y="2167128"/>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4" name="Shape 11"/>
          <p:cNvSpPr/>
          <p:nvPr/>
        </p:nvSpPr>
        <p:spPr>
          <a:xfrm>
            <a:off x="1005840" y="2093976"/>
            <a:ext cx="7772400" cy="859536"/>
          </a:xfrm>
          <a:prstGeom prst="roundRect">
            <a:avLst>
              <a:gd name="adj" fmla="val 13830"/>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pic>
        <p:nvPicPr>
          <p:cNvPr id="15" name="Image 1" descr="preencoded.png"/>
          <p:cNvPicPr>
            <a:picLocks noChangeAspect="1"/>
          </p:cNvPicPr>
          <p:nvPr/>
        </p:nvPicPr>
        <p:blipFill>
          <a:blip r:embed="rId4"/>
          <a:stretch>
            <a:fillRect/>
          </a:stretch>
        </p:blipFill>
        <p:spPr>
          <a:xfrm>
            <a:off x="1115568" y="2295144"/>
            <a:ext cx="384048" cy="384048"/>
          </a:xfrm>
          <a:prstGeom prst="rect">
            <a:avLst/>
          </a:prstGeom>
        </p:spPr>
      </p:pic>
      <p:sp>
        <p:nvSpPr>
          <p:cNvPr id="16" name="Text 12"/>
          <p:cNvSpPr/>
          <p:nvPr/>
        </p:nvSpPr>
        <p:spPr>
          <a:xfrm>
            <a:off x="1609344" y="2167128"/>
            <a:ext cx="4023360" cy="274320"/>
          </a:xfrm>
          <a:prstGeom prst="rect">
            <a:avLst/>
          </a:prstGeom>
          <a:noFill/>
          <a:ln/>
        </p:spPr>
        <p:txBody>
          <a:bodyPr wrap="square" lIns="0" tIns="0" rIns="0" bIns="0" rtlCol="0" anchor="ctr"/>
          <a:lstStyle/>
          <a:p>
            <a:pPr marL="0" indent="0">
              <a:buNone/>
            </a:pPr>
            <a:r>
              <a:rPr lang="en-US" sz="1200" b="1" dirty="0">
                <a:solidFill>
                  <a:srgbClr val="1A0A3C"/>
                </a:solidFill>
                <a:latin typeface="Arial" pitchFamily="34" charset="0"/>
                <a:ea typeface="Arial" pitchFamily="34" charset="-122"/>
                <a:cs typeface="Arial" pitchFamily="34" charset="-120"/>
              </a:rPr>
              <a:t>Extract Entities  </a:t>
            </a:r>
            <a:endParaRPr lang="en-US" sz="1200" dirty="0"/>
          </a:p>
        </p:txBody>
      </p:sp>
      <p:sp>
        <p:nvSpPr>
          <p:cNvPr id="17" name="Text 13"/>
          <p:cNvSpPr/>
          <p:nvPr/>
        </p:nvSpPr>
        <p:spPr>
          <a:xfrm>
            <a:off x="1609344" y="2459736"/>
            <a:ext cx="393192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Structured table: conditions, symptoms, labs/tests, imaging, medications, provider, time references. Turns free text into machine-comparable facts.</a:t>
            </a:r>
            <a:endParaRPr lang="en-US" sz="900" dirty="0"/>
          </a:p>
        </p:txBody>
      </p:sp>
      <p:sp>
        <p:nvSpPr>
          <p:cNvPr id="18" name="Shape 14"/>
          <p:cNvSpPr/>
          <p:nvPr/>
        </p:nvSpPr>
        <p:spPr>
          <a:xfrm>
            <a:off x="5760720" y="2221992"/>
            <a:ext cx="2907792" cy="566928"/>
          </a:xfrm>
          <a:prstGeom prst="roundRect">
            <a:avLst>
              <a:gd name="adj" fmla="val 20968"/>
            </a:avLst>
          </a:prstGeom>
          <a:solidFill>
            <a:srgbClr val="1A0A3C"/>
          </a:solidFill>
          <a:ln w="12700">
            <a:solidFill>
              <a:srgbClr val="1A0A3C"/>
            </a:solidFill>
            <a:prstDash val="solid"/>
          </a:ln>
        </p:spPr>
        <p:txBody>
          <a:bodyPr/>
          <a:lstStyle/>
          <a:p>
            <a:endParaRPr lang="en-US"/>
          </a:p>
        </p:txBody>
      </p:sp>
      <p:sp>
        <p:nvSpPr>
          <p:cNvPr id="19" name="Text 15"/>
          <p:cNvSpPr/>
          <p:nvPr/>
        </p:nvSpPr>
        <p:spPr>
          <a:xfrm>
            <a:off x="5833872" y="2221992"/>
            <a:ext cx="2834640" cy="566928"/>
          </a:xfrm>
          <a:prstGeom prst="rect">
            <a:avLst/>
          </a:prstGeom>
          <a:noFill/>
          <a:ln/>
        </p:spPr>
        <p:txBody>
          <a:bodyPr wrap="square" rtlCol="0" anchor="ctr"/>
          <a:lstStyle/>
          <a:p>
            <a:pPr marL="0" indent="0">
              <a:buNone/>
            </a:pPr>
            <a:r>
              <a:rPr lang="en-US" sz="850" i="1" dirty="0">
                <a:solidFill>
                  <a:srgbClr val="E8E0F8"/>
                </a:solidFill>
                <a:latin typeface="Arial" pitchFamily="34" charset="0"/>
                <a:ea typeface="Arial" pitchFamily="34" charset="-122"/>
                <a:cs typeface="Arial" pitchFamily="34" charset="-120"/>
              </a:rPr>
              <a:t>Connects to HCC logic, CPT validation, and quality measures.</a:t>
            </a:r>
            <a:endParaRPr lang="en-US" sz="850" dirty="0"/>
          </a:p>
        </p:txBody>
      </p:sp>
      <p:sp>
        <p:nvSpPr>
          <p:cNvPr id="20" name="Shape 16"/>
          <p:cNvSpPr/>
          <p:nvPr/>
        </p:nvSpPr>
        <p:spPr>
          <a:xfrm>
            <a:off x="365760" y="3118104"/>
            <a:ext cx="530352" cy="530352"/>
          </a:xfrm>
          <a:prstGeom prst="roundRect">
            <a:avLst>
              <a:gd name="adj" fmla="val 22414"/>
            </a:avLst>
          </a:prstGeom>
          <a:solidFill>
            <a:srgbClr val="B45309"/>
          </a:solidFill>
          <a:ln w="12700">
            <a:solidFill>
              <a:srgbClr val="B45309"/>
            </a:solidFill>
            <a:prstDash val="solid"/>
          </a:ln>
        </p:spPr>
        <p:txBody>
          <a:bodyPr/>
          <a:lstStyle/>
          <a:p>
            <a:endParaRPr lang="en-US"/>
          </a:p>
        </p:txBody>
      </p:sp>
      <p:sp>
        <p:nvSpPr>
          <p:cNvPr id="21" name="Text 17"/>
          <p:cNvSpPr/>
          <p:nvPr/>
        </p:nvSpPr>
        <p:spPr>
          <a:xfrm>
            <a:off x="365760" y="3118104"/>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22" name="Shape 18"/>
          <p:cNvSpPr/>
          <p:nvPr/>
        </p:nvSpPr>
        <p:spPr>
          <a:xfrm>
            <a:off x="1005840" y="3044952"/>
            <a:ext cx="7772400" cy="859536"/>
          </a:xfrm>
          <a:prstGeom prst="roundRect">
            <a:avLst>
              <a:gd name="adj" fmla="val 13830"/>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pic>
        <p:nvPicPr>
          <p:cNvPr id="23" name="Image 2" descr="preencoded.png"/>
          <p:cNvPicPr>
            <a:picLocks noChangeAspect="1"/>
          </p:cNvPicPr>
          <p:nvPr/>
        </p:nvPicPr>
        <p:blipFill>
          <a:blip r:embed="rId5"/>
          <a:stretch>
            <a:fillRect/>
          </a:stretch>
        </p:blipFill>
        <p:spPr>
          <a:xfrm>
            <a:off x="1115568" y="3246120"/>
            <a:ext cx="384048" cy="384048"/>
          </a:xfrm>
          <a:prstGeom prst="rect">
            <a:avLst/>
          </a:prstGeom>
        </p:spPr>
      </p:pic>
      <p:sp>
        <p:nvSpPr>
          <p:cNvPr id="24" name="Text 19"/>
          <p:cNvSpPr/>
          <p:nvPr/>
        </p:nvSpPr>
        <p:spPr>
          <a:xfrm>
            <a:off x="1609344" y="3118104"/>
            <a:ext cx="4023360" cy="274320"/>
          </a:xfrm>
          <a:prstGeom prst="rect">
            <a:avLst/>
          </a:prstGeom>
          <a:noFill/>
          <a:ln/>
        </p:spPr>
        <p:txBody>
          <a:bodyPr wrap="square" lIns="0" tIns="0" rIns="0" bIns="0" rtlCol="0" anchor="ctr"/>
          <a:lstStyle/>
          <a:p>
            <a:pPr marL="0" indent="0">
              <a:buNone/>
            </a:pPr>
            <a:r>
              <a:rPr lang="en-US" sz="1200" b="1" dirty="0">
                <a:solidFill>
                  <a:srgbClr val="1A0A3C"/>
                </a:solidFill>
                <a:latin typeface="Arial" pitchFamily="34" charset="0"/>
                <a:ea typeface="Arial" pitchFamily="34" charset="-122"/>
                <a:cs typeface="Arial" pitchFamily="34" charset="-120"/>
              </a:rPr>
              <a:t>Documentation Review</a:t>
            </a:r>
            <a:endParaRPr lang="en-US" sz="1200" dirty="0"/>
          </a:p>
        </p:txBody>
      </p:sp>
      <p:sp>
        <p:nvSpPr>
          <p:cNvPr id="25" name="Text 20"/>
          <p:cNvSpPr/>
          <p:nvPr/>
        </p:nvSpPr>
        <p:spPr>
          <a:xfrm>
            <a:off x="1609344" y="3410712"/>
            <a:ext cx="393192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Flags missing dosages, absent test values, vague follow-up, unclear allergy status, missing final assessment. Returns reviewer follow-up questions.</a:t>
            </a:r>
            <a:endParaRPr lang="en-US" sz="900" dirty="0"/>
          </a:p>
        </p:txBody>
      </p:sp>
      <p:sp>
        <p:nvSpPr>
          <p:cNvPr id="26" name="Shape 21"/>
          <p:cNvSpPr/>
          <p:nvPr/>
        </p:nvSpPr>
        <p:spPr>
          <a:xfrm>
            <a:off x="5760720" y="3172968"/>
            <a:ext cx="2907792" cy="566928"/>
          </a:xfrm>
          <a:prstGeom prst="roundRect">
            <a:avLst>
              <a:gd name="adj" fmla="val 20968"/>
            </a:avLst>
          </a:prstGeom>
          <a:solidFill>
            <a:srgbClr val="1A0A3C"/>
          </a:solidFill>
          <a:ln w="12700">
            <a:solidFill>
              <a:srgbClr val="1A0A3C"/>
            </a:solidFill>
            <a:prstDash val="solid"/>
          </a:ln>
        </p:spPr>
        <p:txBody>
          <a:bodyPr/>
          <a:lstStyle/>
          <a:p>
            <a:endParaRPr lang="en-US"/>
          </a:p>
        </p:txBody>
      </p:sp>
      <p:sp>
        <p:nvSpPr>
          <p:cNvPr id="27" name="Text 22"/>
          <p:cNvSpPr/>
          <p:nvPr/>
        </p:nvSpPr>
        <p:spPr>
          <a:xfrm>
            <a:off x="5833872" y="3172968"/>
            <a:ext cx="2834640" cy="566928"/>
          </a:xfrm>
          <a:prstGeom prst="rect">
            <a:avLst/>
          </a:prstGeom>
          <a:noFill/>
          <a:ln/>
        </p:spPr>
        <p:txBody>
          <a:bodyPr wrap="square" rtlCol="0" anchor="ctr"/>
          <a:lstStyle/>
          <a:p>
            <a:pPr marL="0" indent="0">
              <a:buNone/>
            </a:pPr>
            <a:r>
              <a:rPr lang="en-US" sz="850" i="1" dirty="0">
                <a:solidFill>
                  <a:srgbClr val="E8E0F8"/>
                </a:solidFill>
                <a:latin typeface="Arial" pitchFamily="34" charset="0"/>
                <a:ea typeface="Arial" pitchFamily="34" charset="-122"/>
                <a:cs typeface="Arial" pitchFamily="34" charset="-120"/>
              </a:rPr>
              <a:t>Human-in-the-loop: AI surfaces gaps, reviewer decides.</a:t>
            </a:r>
            <a:endParaRPr lang="en-US" sz="850" dirty="0"/>
          </a:p>
        </p:txBody>
      </p:sp>
      <p:sp>
        <p:nvSpPr>
          <p:cNvPr id="28" name="Shape 23"/>
          <p:cNvSpPr/>
          <p:nvPr/>
        </p:nvSpPr>
        <p:spPr>
          <a:xfrm>
            <a:off x="365760" y="4069080"/>
            <a:ext cx="530352" cy="530352"/>
          </a:xfrm>
          <a:prstGeom prst="roundRect">
            <a:avLst>
              <a:gd name="adj" fmla="val 22414"/>
            </a:avLst>
          </a:prstGeom>
          <a:solidFill>
            <a:srgbClr val="0D9488"/>
          </a:solidFill>
          <a:ln w="12700">
            <a:solidFill>
              <a:srgbClr val="0D9488"/>
            </a:solidFill>
            <a:prstDash val="solid"/>
          </a:ln>
        </p:spPr>
        <p:txBody>
          <a:bodyPr/>
          <a:lstStyle/>
          <a:p>
            <a:endParaRPr lang="en-US"/>
          </a:p>
        </p:txBody>
      </p:sp>
      <p:sp>
        <p:nvSpPr>
          <p:cNvPr id="29" name="Text 24"/>
          <p:cNvSpPr/>
          <p:nvPr/>
        </p:nvSpPr>
        <p:spPr>
          <a:xfrm>
            <a:off x="365760" y="4069080"/>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30" name="Shape 25"/>
          <p:cNvSpPr/>
          <p:nvPr/>
        </p:nvSpPr>
        <p:spPr>
          <a:xfrm>
            <a:off x="1005840" y="3995928"/>
            <a:ext cx="7772400" cy="859536"/>
          </a:xfrm>
          <a:prstGeom prst="roundRect">
            <a:avLst>
              <a:gd name="adj" fmla="val 13830"/>
            </a:avLst>
          </a:prstGeom>
          <a:solidFill>
            <a:srgbClr val="F4F1FC"/>
          </a:solidFill>
          <a:ln w="12700">
            <a:solidFill>
              <a:srgbClr val="F4F1FC"/>
            </a:solidFill>
            <a:prstDash val="solid"/>
          </a:ln>
          <a:effectLst>
            <a:outerShdw blurRad="127000" dist="25400" dir="2700000" algn="bl" rotWithShape="0">
              <a:srgbClr val="000000">
                <a:alpha val="9000"/>
              </a:srgbClr>
            </a:outerShdw>
          </a:effectLst>
        </p:spPr>
        <p:txBody>
          <a:bodyPr/>
          <a:lstStyle/>
          <a:p>
            <a:endParaRPr lang="en-US"/>
          </a:p>
        </p:txBody>
      </p:sp>
      <p:pic>
        <p:nvPicPr>
          <p:cNvPr id="31" name="Image 3" descr="preencoded.png"/>
          <p:cNvPicPr>
            <a:picLocks noChangeAspect="1"/>
          </p:cNvPicPr>
          <p:nvPr/>
        </p:nvPicPr>
        <p:blipFill>
          <a:blip r:embed="rId6"/>
          <a:stretch>
            <a:fillRect/>
          </a:stretch>
        </p:blipFill>
        <p:spPr>
          <a:xfrm>
            <a:off x="1115568" y="4197096"/>
            <a:ext cx="384048" cy="384048"/>
          </a:xfrm>
          <a:prstGeom prst="rect">
            <a:avLst/>
          </a:prstGeom>
        </p:spPr>
      </p:pic>
      <p:sp>
        <p:nvSpPr>
          <p:cNvPr id="32" name="Text 26"/>
          <p:cNvSpPr/>
          <p:nvPr/>
        </p:nvSpPr>
        <p:spPr>
          <a:xfrm>
            <a:off x="1609344" y="4069080"/>
            <a:ext cx="4023360" cy="274320"/>
          </a:xfrm>
          <a:prstGeom prst="rect">
            <a:avLst/>
          </a:prstGeom>
          <a:noFill/>
          <a:ln/>
        </p:spPr>
        <p:txBody>
          <a:bodyPr wrap="square" lIns="0" tIns="0" rIns="0" bIns="0" rtlCol="0" anchor="ctr"/>
          <a:lstStyle/>
          <a:p>
            <a:pPr marL="0" indent="0">
              <a:buNone/>
            </a:pPr>
            <a:r>
              <a:rPr lang="en-US" sz="1200" b="1" dirty="0">
                <a:solidFill>
                  <a:srgbClr val="1A0A3C"/>
                </a:solidFill>
                <a:latin typeface="Arial" pitchFamily="34" charset="0"/>
                <a:ea typeface="Arial" pitchFamily="34" charset="-122"/>
                <a:cs typeface="Arial" pitchFamily="34" charset="-120"/>
              </a:rPr>
              <a:t>Ask AI</a:t>
            </a:r>
            <a:endParaRPr lang="en-US" sz="1200" dirty="0"/>
          </a:p>
        </p:txBody>
      </p:sp>
      <p:sp>
        <p:nvSpPr>
          <p:cNvPr id="33" name="Text 27"/>
          <p:cNvSpPr/>
          <p:nvPr/>
        </p:nvSpPr>
        <p:spPr>
          <a:xfrm>
            <a:off x="1609344" y="4361688"/>
            <a:ext cx="3931920" cy="438912"/>
          </a:xfrm>
          <a:prstGeom prst="rect">
            <a:avLst/>
          </a:prstGeom>
          <a:noFill/>
          <a:ln/>
        </p:spPr>
        <p:txBody>
          <a:bodyPr wrap="square" rtlCol="0" anchor="ctr"/>
          <a:lstStyle/>
          <a:p>
            <a:pPr marL="0" indent="0">
              <a:buNone/>
            </a:pPr>
            <a:r>
              <a:rPr lang="en-US" sz="900" dirty="0">
                <a:solidFill>
                  <a:srgbClr val="374151"/>
                </a:solidFill>
                <a:latin typeface="Arial" pitchFamily="34" charset="0"/>
                <a:ea typeface="Arial" pitchFamily="34" charset="-122"/>
                <a:cs typeface="Arial" pitchFamily="34" charset="-120"/>
              </a:rPr>
              <a:t>Grounded Q&amp;A from the source document only. Answers stay within the clinical note, so hallucination is structurally limited. Next step: citations back to exact source lines.</a:t>
            </a:r>
            <a:endParaRPr lang="en-US" sz="900" dirty="0"/>
          </a:p>
        </p:txBody>
      </p:sp>
      <p:sp>
        <p:nvSpPr>
          <p:cNvPr id="34" name="Shape 28"/>
          <p:cNvSpPr/>
          <p:nvPr/>
        </p:nvSpPr>
        <p:spPr>
          <a:xfrm>
            <a:off x="5760720" y="4123944"/>
            <a:ext cx="2907792" cy="566928"/>
          </a:xfrm>
          <a:prstGeom prst="roundRect">
            <a:avLst>
              <a:gd name="adj" fmla="val 20968"/>
            </a:avLst>
          </a:prstGeom>
          <a:solidFill>
            <a:srgbClr val="1A0A3C"/>
          </a:solidFill>
          <a:ln w="12700">
            <a:solidFill>
              <a:srgbClr val="1A0A3C"/>
            </a:solidFill>
            <a:prstDash val="solid"/>
          </a:ln>
        </p:spPr>
        <p:txBody>
          <a:bodyPr/>
          <a:lstStyle/>
          <a:p>
            <a:endParaRPr lang="en-US"/>
          </a:p>
        </p:txBody>
      </p:sp>
      <p:sp>
        <p:nvSpPr>
          <p:cNvPr id="35" name="Text 29"/>
          <p:cNvSpPr/>
          <p:nvPr/>
        </p:nvSpPr>
        <p:spPr>
          <a:xfrm>
            <a:off x="5833872" y="4123944"/>
            <a:ext cx="2834640" cy="566928"/>
          </a:xfrm>
          <a:prstGeom prst="rect">
            <a:avLst/>
          </a:prstGeom>
          <a:noFill/>
          <a:ln/>
        </p:spPr>
        <p:txBody>
          <a:bodyPr wrap="square" rtlCol="0" anchor="ctr"/>
          <a:lstStyle/>
          <a:p>
            <a:pPr marL="0" indent="0">
              <a:buNone/>
            </a:pPr>
            <a:r>
              <a:rPr lang="en-US" sz="850" i="1" dirty="0">
                <a:solidFill>
                  <a:srgbClr val="E8E0F8"/>
                </a:solidFill>
                <a:latin typeface="Arial" pitchFamily="34" charset="0"/>
                <a:ea typeface="Arial" pitchFamily="34" charset="-122"/>
                <a:cs typeface="Arial" pitchFamily="34" charset="-120"/>
              </a:rPr>
              <a:t>Auditable AI: every answer traceable to a source document.</a:t>
            </a:r>
            <a:endParaRPr lang="en-US" sz="850" dirty="0"/>
          </a:p>
        </p:txBody>
      </p:sp>
    </p:spTree>
  </p:cSld>
  <p:clrMapOvr>
    <a:masterClrMapping/>
  </p:clrMapOvr>
  <mc:AlternateContent xmlns:mc="http://schemas.openxmlformats.org/markup-compatibility/2006">
    <mc:Choice xmlns:p14="http://schemas.microsoft.com/office/powerpoint/2010/main" Requires="p14">
      <p:transition spd="slow" p14:dur="2000" advTm="17927"/>
    </mc:Choice>
    <mc:Fallback>
      <p:transition spd="slow" advTm="1792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0A3C"/>
        </a:solidFill>
        <a:effectLst/>
      </p:bgPr>
    </p:bg>
    <p:spTree>
      <p:nvGrpSpPr>
        <p:cNvPr id="1" name=""/>
        <p:cNvGrpSpPr/>
        <p:nvPr/>
      </p:nvGrpSpPr>
      <p:grpSpPr>
        <a:xfrm>
          <a:off x="0" y="0"/>
          <a:ext cx="0" cy="0"/>
          <a:chOff x="0" y="0"/>
          <a:chExt cx="0" cy="0"/>
        </a:xfrm>
      </p:grpSpPr>
      <p:sp>
        <p:nvSpPr>
          <p:cNvPr id="2" name="Shape 0"/>
          <p:cNvSpPr/>
          <p:nvPr/>
        </p:nvSpPr>
        <p:spPr>
          <a:xfrm>
            <a:off x="-914400" y="3200400"/>
            <a:ext cx="3474720" cy="3474720"/>
          </a:xfrm>
          <a:prstGeom prst="ellipse">
            <a:avLst/>
          </a:prstGeom>
          <a:solidFill>
            <a:srgbClr val="2D1A5C">
              <a:alpha val="48000"/>
            </a:srgbClr>
          </a:solidFill>
          <a:ln w="12700">
            <a:solidFill>
              <a:srgbClr val="2D1A5C">
                <a:alpha val="48000"/>
              </a:srgbClr>
            </a:solidFill>
            <a:prstDash val="solid"/>
          </a:ln>
        </p:spPr>
        <p:txBody>
          <a:bodyPr/>
          <a:lstStyle/>
          <a:p>
            <a:endParaRPr lang="en-US"/>
          </a:p>
        </p:txBody>
      </p:sp>
      <p:sp>
        <p:nvSpPr>
          <p:cNvPr id="3" name="Shape 1"/>
          <p:cNvSpPr/>
          <p:nvPr/>
        </p:nvSpPr>
        <p:spPr>
          <a:xfrm>
            <a:off x="7132320" y="-1097280"/>
            <a:ext cx="3108960" cy="3108960"/>
          </a:xfrm>
          <a:prstGeom prst="ellipse">
            <a:avLst/>
          </a:prstGeom>
          <a:solidFill>
            <a:srgbClr val="6B4DB0">
              <a:alpha val="42000"/>
            </a:srgbClr>
          </a:solidFill>
          <a:ln w="12700">
            <a:solidFill>
              <a:srgbClr val="6B4DB0">
                <a:alpha val="42000"/>
              </a:srgbClr>
            </a:solidFill>
            <a:prstDash val="solid"/>
          </a:ln>
        </p:spPr>
        <p:txBody>
          <a:bodyPr/>
          <a:lstStyle/>
          <a:p>
            <a:endParaRPr lang="en-US"/>
          </a:p>
        </p:txBody>
      </p:sp>
      <p:sp>
        <p:nvSpPr>
          <p:cNvPr id="4" name="Text 2"/>
          <p:cNvSpPr/>
          <p:nvPr/>
        </p:nvSpPr>
        <p:spPr>
          <a:xfrm>
            <a:off x="502920" y="384048"/>
            <a:ext cx="3657600" cy="347472"/>
          </a:xfrm>
          <a:prstGeom prst="rect">
            <a:avLst/>
          </a:prstGeom>
          <a:noFill/>
          <a:ln/>
        </p:spPr>
        <p:txBody>
          <a:bodyPr wrap="square" lIns="0" tIns="0" rIns="0" bIns="0" rtlCol="0" anchor="ctr"/>
          <a:lstStyle/>
          <a:p>
            <a:pPr marL="0" indent="0">
              <a:buNone/>
            </a:pPr>
            <a:r>
              <a:rPr lang="en-US" sz="1100" b="1" kern="0" spc="600" dirty="0">
                <a:solidFill>
                  <a:srgbClr val="E8E0F8"/>
                </a:solidFill>
                <a:latin typeface="Arial" pitchFamily="34" charset="0"/>
                <a:ea typeface="Arial" pitchFamily="34" charset="-122"/>
                <a:cs typeface="Arial" pitchFamily="34" charset="-120"/>
              </a:rPr>
              <a:t>C O T I V I T I</a:t>
            </a:r>
            <a:endParaRPr lang="en-US" sz="1100" dirty="0"/>
          </a:p>
        </p:txBody>
      </p:sp>
      <p:sp>
        <p:nvSpPr>
          <p:cNvPr id="5" name="Text 3"/>
          <p:cNvSpPr/>
          <p:nvPr/>
        </p:nvSpPr>
        <p:spPr>
          <a:xfrm>
            <a:off x="502920" y="868680"/>
            <a:ext cx="8229600" cy="8686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6" name="Text 4"/>
          <p:cNvSpPr/>
          <p:nvPr/>
        </p:nvSpPr>
        <p:spPr>
          <a:xfrm>
            <a:off x="502920" y="1874520"/>
            <a:ext cx="8229600" cy="347472"/>
          </a:xfrm>
          <a:prstGeom prst="rect">
            <a:avLst/>
          </a:prstGeom>
          <a:noFill/>
          <a:ln/>
        </p:spPr>
        <p:txBody>
          <a:bodyPr wrap="square" lIns="0" tIns="0" rIns="0" bIns="0" rtlCol="0" anchor="ctr"/>
          <a:lstStyle/>
          <a:p>
            <a:pPr marL="0" indent="0">
              <a:buNone/>
            </a:pPr>
            <a:r>
              <a:rPr lang="en-US" sz="1500" b="1" dirty="0">
                <a:solidFill>
                  <a:srgbClr val="E8E0F8"/>
                </a:solidFill>
                <a:latin typeface="Arial" pitchFamily="34" charset="0"/>
                <a:ea typeface="Arial" pitchFamily="34" charset="-122"/>
                <a:cs typeface="Arial" pitchFamily="34" charset="-120"/>
              </a:rPr>
              <a:t>Key Takeaways</a:t>
            </a:r>
            <a:endParaRPr lang="en-US" sz="1500" dirty="0"/>
          </a:p>
        </p:txBody>
      </p:sp>
      <p:sp>
        <p:nvSpPr>
          <p:cNvPr id="7" name="Shape 5"/>
          <p:cNvSpPr/>
          <p:nvPr/>
        </p:nvSpPr>
        <p:spPr>
          <a:xfrm>
            <a:off x="502920" y="2377440"/>
            <a:ext cx="256032" cy="256032"/>
          </a:xfrm>
          <a:prstGeom prst="ellipse">
            <a:avLst/>
          </a:prstGeom>
          <a:solidFill>
            <a:srgbClr val="9B7ED4"/>
          </a:solidFill>
          <a:ln w="12700">
            <a:solidFill>
              <a:srgbClr val="9B7ED4"/>
            </a:solidFill>
            <a:prstDash val="solid"/>
          </a:ln>
        </p:spPr>
        <p:txBody>
          <a:bodyPr/>
          <a:lstStyle/>
          <a:p>
            <a:endParaRPr lang="en-US"/>
          </a:p>
        </p:txBody>
      </p:sp>
      <p:sp>
        <p:nvSpPr>
          <p:cNvPr id="8" name="Text 6"/>
          <p:cNvSpPr/>
          <p:nvPr/>
        </p:nvSpPr>
        <p:spPr>
          <a:xfrm>
            <a:off x="896112" y="2340864"/>
            <a:ext cx="7909560" cy="512064"/>
          </a:xfrm>
          <a:prstGeom prst="rect">
            <a:avLst/>
          </a:prstGeom>
          <a:noFill/>
          <a:ln/>
        </p:spPr>
        <p:txBody>
          <a:bodyPr wrap="square" lIns="0" tIns="0" rIns="0" bIns="0" rtlCol="0" anchor="ctr"/>
          <a:lstStyle/>
          <a:p>
            <a:pPr marL="0" indent="0">
              <a:buNone/>
            </a:pPr>
            <a:r>
              <a:rPr lang="en-US" sz="1050" dirty="0">
                <a:solidFill>
                  <a:srgbClr val="E8E0F8"/>
                </a:solidFill>
                <a:latin typeface="Arial" pitchFamily="34" charset="0"/>
                <a:ea typeface="Arial" pitchFamily="34" charset="-122"/>
                <a:cs typeface="Arial" pitchFamily="34" charset="-120"/>
              </a:rPr>
              <a:t>Clinical NLT is a $16B market growing at 25% CAGR, and Cotiviti is already at the center of its most valuable application: payment integrity and risk adjustment.</a:t>
            </a:r>
            <a:endParaRPr lang="en-US" sz="1050" dirty="0"/>
          </a:p>
        </p:txBody>
      </p:sp>
      <p:sp>
        <p:nvSpPr>
          <p:cNvPr id="9" name="Shape 7"/>
          <p:cNvSpPr/>
          <p:nvPr/>
        </p:nvSpPr>
        <p:spPr>
          <a:xfrm>
            <a:off x="502920" y="2971800"/>
            <a:ext cx="256032" cy="256032"/>
          </a:xfrm>
          <a:prstGeom prst="ellipse">
            <a:avLst/>
          </a:prstGeom>
          <a:solidFill>
            <a:srgbClr val="9B7ED4"/>
          </a:solidFill>
          <a:ln w="12700">
            <a:solidFill>
              <a:srgbClr val="9B7ED4"/>
            </a:solidFill>
            <a:prstDash val="solid"/>
          </a:ln>
        </p:spPr>
        <p:txBody>
          <a:bodyPr/>
          <a:lstStyle/>
          <a:p>
            <a:endParaRPr lang="en-US"/>
          </a:p>
        </p:txBody>
      </p:sp>
      <p:sp>
        <p:nvSpPr>
          <p:cNvPr id="10" name="Text 8"/>
          <p:cNvSpPr/>
          <p:nvPr/>
        </p:nvSpPr>
        <p:spPr>
          <a:xfrm>
            <a:off x="896112" y="2935224"/>
            <a:ext cx="7909560" cy="512064"/>
          </a:xfrm>
          <a:prstGeom prst="rect">
            <a:avLst/>
          </a:prstGeom>
          <a:noFill/>
          <a:ln/>
        </p:spPr>
        <p:txBody>
          <a:bodyPr wrap="square" lIns="0" tIns="0" rIns="0" bIns="0" rtlCol="0" anchor="ctr"/>
          <a:lstStyle/>
          <a:p>
            <a:pPr marL="0" indent="0">
              <a:buNone/>
            </a:pPr>
            <a:r>
              <a:rPr lang="en-US" sz="1050" dirty="0">
                <a:solidFill>
                  <a:srgbClr val="E8E0F8"/>
                </a:solidFill>
                <a:latin typeface="Arial" pitchFamily="34" charset="0"/>
                <a:ea typeface="Arial" pitchFamily="34" charset="-122"/>
                <a:cs typeface="Arial" pitchFamily="34" charset="-120"/>
              </a:rPr>
              <a:t>Two strategic investments: a fine-tuned clinical LLM and a published responsible AI framework, both extending what Cotiviti already does.</a:t>
            </a:r>
            <a:endParaRPr lang="en-US" sz="1050" dirty="0"/>
          </a:p>
        </p:txBody>
      </p:sp>
      <p:sp>
        <p:nvSpPr>
          <p:cNvPr id="11" name="Shape 9"/>
          <p:cNvSpPr/>
          <p:nvPr/>
        </p:nvSpPr>
        <p:spPr>
          <a:xfrm>
            <a:off x="502920" y="3566160"/>
            <a:ext cx="256032" cy="256032"/>
          </a:xfrm>
          <a:prstGeom prst="ellipse">
            <a:avLst/>
          </a:prstGeom>
          <a:solidFill>
            <a:srgbClr val="9B7ED4"/>
          </a:solidFill>
          <a:ln w="12700">
            <a:solidFill>
              <a:srgbClr val="9B7ED4"/>
            </a:solidFill>
            <a:prstDash val="solid"/>
          </a:ln>
        </p:spPr>
        <p:txBody>
          <a:bodyPr/>
          <a:lstStyle/>
          <a:p>
            <a:endParaRPr lang="en-US"/>
          </a:p>
        </p:txBody>
      </p:sp>
      <p:sp>
        <p:nvSpPr>
          <p:cNvPr id="12" name="Text 10"/>
          <p:cNvSpPr/>
          <p:nvPr/>
        </p:nvSpPr>
        <p:spPr>
          <a:xfrm>
            <a:off x="896112" y="3529584"/>
            <a:ext cx="7909560" cy="512064"/>
          </a:xfrm>
          <a:prstGeom prst="rect">
            <a:avLst/>
          </a:prstGeom>
          <a:noFill/>
          <a:ln/>
        </p:spPr>
        <p:txBody>
          <a:bodyPr wrap="square" lIns="0" tIns="0" rIns="0" bIns="0" rtlCol="0" anchor="ctr"/>
          <a:lstStyle/>
          <a:p>
            <a:pPr marL="0" indent="0">
              <a:buNone/>
            </a:pPr>
            <a:r>
              <a:rPr lang="en-US" sz="1050" dirty="0">
                <a:solidFill>
                  <a:srgbClr val="E8E0F8"/>
                </a:solidFill>
                <a:latin typeface="Arial" pitchFamily="34" charset="0"/>
                <a:ea typeface="Arial" pitchFamily="34" charset="-122"/>
                <a:cs typeface="Arial" pitchFamily="34" charset="-120"/>
              </a:rPr>
              <a:t>My POC demonstrates the documentation-gap detection capability at the prototype level. </a:t>
            </a:r>
            <a:endParaRPr lang="en-US" sz="1050" dirty="0"/>
          </a:p>
        </p:txBody>
      </p:sp>
      <p:sp>
        <p:nvSpPr>
          <p:cNvPr id="13" name="Shape 11"/>
          <p:cNvSpPr/>
          <p:nvPr/>
        </p:nvSpPr>
        <p:spPr>
          <a:xfrm>
            <a:off x="502920" y="4160520"/>
            <a:ext cx="256032" cy="256032"/>
          </a:xfrm>
          <a:prstGeom prst="ellipse">
            <a:avLst/>
          </a:prstGeom>
          <a:solidFill>
            <a:srgbClr val="9B7ED4"/>
          </a:solidFill>
          <a:ln w="12700">
            <a:solidFill>
              <a:srgbClr val="9B7ED4"/>
            </a:solidFill>
            <a:prstDash val="solid"/>
          </a:ln>
        </p:spPr>
        <p:txBody>
          <a:bodyPr/>
          <a:lstStyle/>
          <a:p>
            <a:endParaRPr lang="en-US"/>
          </a:p>
        </p:txBody>
      </p:sp>
      <p:sp>
        <p:nvSpPr>
          <p:cNvPr id="14" name="Text 12"/>
          <p:cNvSpPr/>
          <p:nvPr/>
        </p:nvSpPr>
        <p:spPr>
          <a:xfrm>
            <a:off x="896112" y="4123944"/>
            <a:ext cx="7909560" cy="512064"/>
          </a:xfrm>
          <a:prstGeom prst="rect">
            <a:avLst/>
          </a:prstGeom>
          <a:noFill/>
          <a:ln/>
        </p:spPr>
        <p:txBody>
          <a:bodyPr wrap="square" lIns="0" tIns="0" rIns="0" bIns="0" rtlCol="0" anchor="ctr"/>
          <a:lstStyle/>
          <a:p>
            <a:pPr marL="0" indent="0">
              <a:buNone/>
            </a:pPr>
            <a:r>
              <a:rPr lang="en-US" sz="1050" dirty="0">
                <a:solidFill>
                  <a:srgbClr val="E8E0F8"/>
                </a:solidFill>
                <a:latin typeface="Arial" pitchFamily="34" charset="0"/>
                <a:ea typeface="Arial" pitchFamily="34" charset="-122"/>
                <a:cs typeface="Arial" pitchFamily="34" charset="-120"/>
              </a:rPr>
              <a:t>ECE Honors + Mathematics + Finance Minor: I build the systems, understand the statistics, and frame the business value. Ready to contribute from day one.</a:t>
            </a:r>
            <a:endParaRPr lang="en-US" sz="1050" dirty="0"/>
          </a:p>
        </p:txBody>
      </p:sp>
      <p:sp>
        <p:nvSpPr>
          <p:cNvPr id="15" name="Shape 13"/>
          <p:cNvSpPr/>
          <p:nvPr/>
        </p:nvSpPr>
        <p:spPr>
          <a:xfrm>
            <a:off x="0" y="4846320"/>
            <a:ext cx="9144000" cy="292608"/>
          </a:xfrm>
          <a:prstGeom prst="rect">
            <a:avLst/>
          </a:prstGeom>
          <a:solidFill>
            <a:srgbClr val="2D1A5C"/>
          </a:solidFill>
          <a:ln w="12700">
            <a:solidFill>
              <a:srgbClr val="2D1A5C"/>
            </a:solidFill>
            <a:prstDash val="solid"/>
          </a:ln>
        </p:spPr>
        <p:txBody>
          <a:bodyPr/>
          <a:lstStyle/>
          <a:p>
            <a:endParaRPr lang="en-US"/>
          </a:p>
        </p:txBody>
      </p:sp>
      <p:sp>
        <p:nvSpPr>
          <p:cNvPr id="16" name="Text 14"/>
          <p:cNvSpPr/>
          <p:nvPr/>
        </p:nvSpPr>
        <p:spPr>
          <a:xfrm>
            <a:off x="0" y="4846320"/>
            <a:ext cx="9144000" cy="292608"/>
          </a:xfrm>
          <a:prstGeom prst="rect">
            <a:avLst/>
          </a:prstGeom>
          <a:noFill/>
          <a:ln/>
        </p:spPr>
        <p:txBody>
          <a:bodyPr wrap="square" lIns="0" tIns="0" rIns="0" bIns="0" rtlCol="0" anchor="ctr"/>
          <a:lstStyle/>
          <a:p>
            <a:pPr marL="0" indent="0" algn="ctr">
              <a:buNone/>
            </a:pPr>
            <a:r>
              <a:rPr lang="en-US" sz="850" i="1" dirty="0">
                <a:solidFill>
                  <a:srgbClr val="E8E0F8"/>
                </a:solidFill>
                <a:latin typeface="Arial" pitchFamily="34" charset="0"/>
                <a:ea typeface="Arial" pitchFamily="34" charset="-122"/>
                <a:cs typeface="Arial" pitchFamily="34" charset="-120"/>
              </a:rPr>
              <a:t>Shrihan Anikapati  ·  UT Austin  ·  shri.anikapati@gmail.com ·  Cotiviti Intern Assessment 2026</a:t>
            </a:r>
            <a:endParaRPr lang="en-US" sz="850" dirty="0"/>
          </a:p>
        </p:txBody>
      </p:sp>
    </p:spTree>
  </p:cSld>
  <p:clrMapOvr>
    <a:masterClrMapping/>
  </p:clrMapOvr>
  <mc:AlternateContent xmlns:mc="http://schemas.openxmlformats.org/markup-compatibility/2006">
    <mc:Choice xmlns:p14="http://schemas.microsoft.com/office/powerpoint/2010/main" Requires="p14">
      <p:transition spd="slow" p14:dur="2000" advTm="30579"/>
    </mc:Choice>
    <mc:Fallback>
      <p:transition spd="slow" advTm="30579"/>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2271</TotalTime>
  <Words>2625</Words>
  <Application>Microsoft Office PowerPoint</Application>
  <PresentationFormat>On-screen Show (16:9)</PresentationFormat>
  <Paragraphs>180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Cotiviti Intern Assessment – Shrihan Anikapati</dc:title>
  <dc:subject>PptxGenJS Presentation</dc:subject>
  <dc:creator>Shrihan Anikapati</dc:creator>
  <cp:lastModifiedBy>Shrihan Anikapati</cp:lastModifiedBy>
  <cp:revision>3</cp:revision>
  <dcterms:created xsi:type="dcterms:W3CDTF">2026-06-26T03:41:45Z</dcterms:created>
  <dcterms:modified xsi:type="dcterms:W3CDTF">2026-06-27T17:48:03Z</dcterms:modified>
</cp:coreProperties>
</file>